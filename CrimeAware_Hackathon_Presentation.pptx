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and fellow hackers. I am [Your Name]. Today, we are tackling a critical issue that affects every community: the gap between crime incidents and community awareness. We present CrimeAware—a smart, lightweight web portal designed to make reporting easy and awareness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problem space. Right now, reporting a crime is intimidating and bureaucratic. Because of this, a massive number of incidents go unreported. Citizens are left in the dark about dangers in their own neighborhoods, and authorities lack real-time data to deploy resources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CrimeAware. We've built a centralized portal that removes the friction from reporting. It serves a dual purpose: it gives citizens a voice and gives authorities a digital control room to manage and analyze incidents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focused on building core, robust features rather than bloating the app. Users can securely log in and file categorized reports in under a minute. On the flip side, the admin panel allows authorities to change the status of these reports, creating a closed-loop accountability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 engineering standpoint, we chose a stack optimized for a hackathon environment. Flask allows for rapid backend development. We paired it with SQLite for a zero-configuration database setup, ensuring our data flow—from user input to database storage to dashboard rendering—is lightning-fast.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user journey. It's incredibly simple. A user authenticates, fills out the incident form, and the data is instantly stored. This data immediately populates the public dashboard, keeping the community informed, while simultaneously hitting the admin queue for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true value of CrimeAware isn't just the code; it's the societal impact. By making crime data visible, we democratize safety. We give law enforcement data-driven insights, and we create a deterrence effect—when people know a community is watching and reporting, crime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this is a fully functional MVP, our roadmap is ambitious. Next steps include integrating real-time SMS alerts, adding interactive heat-maps using Folium, and eventually using machine learning to predict crime hotspots based on historical data. Thank you for your time. We are ready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over-bg.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101A28">
              <a:alpha val="82000"/>
            </a:srgbClr>
          </a:solidFill>
          <a:ln/>
        </p:spPr>
        <p:txBody>
          <a:bodyPr wrap="square" rtlCol="0" anchor="ctr"/>
          <a:lstStyle/>
          <a:p>
            <a:pPr indent="0" marL="0">
              <a:buNone/>
            </a:pPr>
            <a:endParaRPr lang="en-US" dirty="0"/>
          </a:p>
        </p:txBody>
      </p:sp>
      <p:sp>
        <p:nvSpPr>
          <p:cNvPr id="4" name="Text 1"/>
          <p:cNvSpPr/>
          <p:nvPr/>
        </p:nvSpPr>
        <p:spPr>
          <a:xfrm>
            <a:off x="4267200" y="780752"/>
            <a:ext cx="609600" cy="38100"/>
          </a:xfrm>
          <a:prstGeom prst="rect">
            <a:avLst/>
          </a:prstGeom>
          <a:solidFill>
            <a:srgbClr val="44D1E4"/>
          </a:solidFill>
          <a:ln/>
        </p:spPr>
        <p:txBody>
          <a:bodyPr wrap="square" rtlCol="0" anchor="ctr"/>
          <a:lstStyle/>
          <a:p>
            <a:pPr indent="0" marL="0">
              <a:buNone/>
            </a:pPr>
            <a:endParaRPr lang="en-US" dirty="0"/>
          </a:p>
        </p:txBody>
      </p:sp>
      <p:pic>
        <p:nvPicPr>
          <p:cNvPr id="5" name="Image 1" descr="/tmp/title-icon.jpg">    </p:cNvPr>
          <p:cNvPicPr>
            <a:picLocks noChangeAspect="1"/>
          </p:cNvPicPr>
          <p:nvPr/>
        </p:nvPicPr>
        <p:blipFill>
          <a:blip r:embed="rId2"/>
          <a:stretch>
            <a:fillRect/>
          </a:stretch>
        </p:blipFill>
        <p:spPr>
          <a:xfrm>
            <a:off x="2362646" y="1022003"/>
            <a:ext cx="711101" cy="711101"/>
          </a:xfrm>
          <a:prstGeom prst="rect">
            <a:avLst/>
          </a:prstGeom>
        </p:spPr>
      </p:pic>
      <p:sp>
        <p:nvSpPr>
          <p:cNvPr id="6" name="Text 2"/>
          <p:cNvSpPr/>
          <p:nvPr/>
        </p:nvSpPr>
        <p:spPr>
          <a:xfrm>
            <a:off x="1188571" y="1070223"/>
            <a:ext cx="7681109" cy="663833"/>
          </a:xfrm>
          <a:prstGeom prst="rect">
            <a:avLst/>
          </a:prstGeom>
          <a:noFill/>
          <a:ln/>
        </p:spPr>
        <p:txBody>
          <a:bodyPr wrap="square" lIns="0" tIns="0" rIns="0" bIns="0" rtlCol="0" anchor="t"/>
          <a:lstStyle/>
          <a:p>
            <a:pPr algn="ctr" indent="0" marL="0">
              <a:lnSpc>
                <a:spcPts val="4840"/>
              </a:lnSpc>
              <a:buNone/>
            </a:pPr>
            <a:r>
              <a:rPr lang="en-US" sz="4400" b="1" spc="200" kern="0" dirty="0">
                <a:solidFill>
                  <a:srgbClr val="FFFFFF"/>
                </a:solidFill>
                <a:latin typeface="Trebuchet MS" pitchFamily="34" charset="0"/>
                <a:ea typeface="Trebuchet MS" pitchFamily="34" charset="-122"/>
                <a:cs typeface="Trebuchet MS" pitchFamily="34" charset="-120"/>
              </a:rPr>
              <a:t>CrimeAware</a:t>
            </a:r>
            <a:endParaRPr lang="en-US" sz="4400" dirty="0"/>
          </a:p>
        </p:txBody>
      </p:sp>
      <p:sp>
        <p:nvSpPr>
          <p:cNvPr id="7" name="Text 3"/>
          <p:cNvSpPr/>
          <p:nvPr/>
        </p:nvSpPr>
        <p:spPr>
          <a:xfrm>
            <a:off x="1421554" y="1860054"/>
            <a:ext cx="6300743" cy="345579"/>
          </a:xfrm>
          <a:prstGeom prst="rect">
            <a:avLst/>
          </a:prstGeom>
          <a:noFill/>
          <a:ln/>
        </p:spPr>
        <p:txBody>
          <a:bodyPr wrap="square" lIns="0" tIns="0" rIns="0" bIns="0" rtlCol="0" anchor="t"/>
          <a:lstStyle/>
          <a:p>
            <a:pPr algn="ctr" indent="0" marL="0">
              <a:lnSpc>
                <a:spcPts val="2520"/>
              </a:lnSpc>
              <a:spcBef>
                <a:spcPts val="1000"/>
              </a:spcBef>
              <a:buNone/>
            </a:pPr>
            <a:r>
              <a:rPr lang="en-US" sz="1800" b="1" dirty="0">
                <a:solidFill>
                  <a:srgbClr val="44D1E4"/>
                </a:solidFill>
                <a:latin typeface="Trebuchet MS" pitchFamily="34" charset="0"/>
                <a:ea typeface="Trebuchet MS" pitchFamily="34" charset="-122"/>
                <a:cs typeface="Trebuchet MS" pitchFamily="34" charset="-120"/>
              </a:rPr>
              <a:t>Empowering Communities Through Smart Reporting</a:t>
            </a:r>
            <a:endParaRPr lang="en-US" sz="1800" dirty="0"/>
          </a:p>
        </p:txBody>
      </p:sp>
      <p:sp>
        <p:nvSpPr>
          <p:cNvPr id="8" name="Text 4"/>
          <p:cNvSpPr/>
          <p:nvPr/>
        </p:nvSpPr>
        <p:spPr>
          <a:xfrm>
            <a:off x="4267200" y="2433935"/>
            <a:ext cx="609600" cy="38100"/>
          </a:xfrm>
          <a:prstGeom prst="rect">
            <a:avLst/>
          </a:prstGeom>
          <a:solidFill>
            <a:srgbClr val="44D1E4"/>
          </a:solidFill>
          <a:ln/>
        </p:spPr>
        <p:txBody>
          <a:bodyPr wrap="square" rtlCol="0" anchor="ctr"/>
          <a:lstStyle/>
          <a:p>
            <a:pPr indent="0" marL="0">
              <a:buNone/>
            </a:pPr>
            <a:endParaRPr lang="en-US" dirty="0"/>
          </a:p>
        </p:txBody>
      </p:sp>
      <p:sp>
        <p:nvSpPr>
          <p:cNvPr id="9" name="Text 5"/>
          <p:cNvSpPr/>
          <p:nvPr/>
        </p:nvSpPr>
        <p:spPr>
          <a:xfrm>
            <a:off x="2935599" y="2776835"/>
            <a:ext cx="3272802" cy="267301"/>
          </a:xfrm>
          <a:prstGeom prst="rect">
            <a:avLst/>
          </a:prstGeom>
          <a:noFill/>
          <a:ln/>
        </p:spPr>
        <p:txBody>
          <a:bodyPr wrap="square" lIns="0" tIns="0" rIns="0" bIns="0" rtlCol="0" anchor="t"/>
          <a:lstStyle/>
          <a:p>
            <a:pPr algn="ctr" indent="0" marL="0">
              <a:lnSpc>
                <a:spcPts val="1950"/>
              </a:lnSpc>
              <a:buNone/>
            </a:pPr>
            <a:r>
              <a:rPr lang="en-US" sz="1300" dirty="0">
                <a:solidFill>
                  <a:srgbClr val="FFFFFF">
                    <a:alpha val="60000"/>
                  </a:srgbClr>
                </a:solidFill>
                <a:latin typeface="Trebuchet MS" pitchFamily="34" charset="0"/>
                <a:ea typeface="Trebuchet MS" pitchFamily="34" charset="-122"/>
                <a:cs typeface="Trebuchet MS" pitchFamily="34" charset="-120"/>
              </a:rPr>
              <a:t>Tech Stack: Flask | SQLite | Bootstrap</a:t>
            </a:r>
            <a:endParaRPr lang="en-US" sz="1300" dirty="0"/>
          </a:p>
        </p:txBody>
      </p:sp>
      <p:sp>
        <p:nvSpPr>
          <p:cNvPr id="10" name="Text 6"/>
          <p:cNvSpPr/>
          <p:nvPr/>
        </p:nvSpPr>
        <p:spPr>
          <a:xfrm>
            <a:off x="0" y="3805089"/>
            <a:ext cx="8636000" cy="211205"/>
          </a:xfrm>
          <a:prstGeom prst="rect">
            <a:avLst/>
          </a:prstGeom>
          <a:noFill/>
          <a:ln/>
        </p:spPr>
        <p:txBody>
          <a:bodyPr wrap="square" lIns="0" tIns="0" rIns="0" bIns="0" rtlCol="0" anchor="t"/>
          <a:lstStyle/>
          <a:p>
            <a:pPr algn="r" indent="0" marL="0">
              <a:lnSpc>
                <a:spcPts val="1540"/>
              </a:lnSpc>
              <a:spcAft>
                <a:spcPts val="400"/>
              </a:spcAft>
              <a:buNone/>
            </a:pPr>
            <a:r>
              <a:rPr lang="en-US" sz="1100" dirty="0">
                <a:solidFill>
                  <a:srgbClr val="FFFFFF">
                    <a:alpha val="55000"/>
                  </a:srgbClr>
                </a:solidFill>
                <a:latin typeface="Trebuchet MS" pitchFamily="34" charset="0"/>
                <a:ea typeface="Trebuchet MS" pitchFamily="34" charset="-122"/>
                <a:cs typeface="Trebuchet MS" pitchFamily="34" charset="-120"/>
              </a:rPr>
              <a:t>Presented by:</a:t>
            </a:r>
            <a:endParaRPr lang="en-US" sz="1100" dirty="0"/>
          </a:p>
        </p:txBody>
      </p:sp>
      <p:sp>
        <p:nvSpPr>
          <p:cNvPr id="11" name="Text 7"/>
          <p:cNvSpPr/>
          <p:nvPr/>
        </p:nvSpPr>
        <p:spPr>
          <a:xfrm>
            <a:off x="0" y="4051399"/>
            <a:ext cx="8636000" cy="226314"/>
          </a:xfrm>
          <a:prstGeom prst="rect">
            <a:avLst/>
          </a:prstGeom>
          <a:noFill/>
          <a:ln/>
        </p:spPr>
        <p:txBody>
          <a:bodyPr wrap="square" lIns="0" tIns="0" rIns="0" bIns="0" rtlCol="0" anchor="t"/>
          <a:lstStyle/>
          <a:p>
            <a:pPr algn="r" indent="0" marL="0">
              <a:lnSpc>
                <a:spcPts val="1650"/>
              </a:lnSpc>
              <a:buNone/>
            </a:pPr>
            <a:r>
              <a:rPr lang="en-US" sz="1100" dirty="0">
                <a:solidFill>
                  <a:srgbClr val="FFFFFF">
                    <a:alpha val="75000"/>
                  </a:srgbClr>
                </a:solidFill>
                <a:latin typeface="Trebuchet MS" pitchFamily="34" charset="0"/>
                <a:ea typeface="Trebuchet MS" pitchFamily="34" charset="-122"/>
                <a:cs typeface="Trebuchet MS" pitchFamily="34" charset="-120"/>
              </a:rPr>
              <a:t>D. Kavya Latha Harshini</a:t>
            </a:r>
            <a:endParaRPr lang="en-US" sz="1100" dirty="0"/>
          </a:p>
        </p:txBody>
      </p:sp>
      <p:sp>
        <p:nvSpPr>
          <p:cNvPr id="12" name="Text 8"/>
          <p:cNvSpPr/>
          <p:nvPr/>
        </p:nvSpPr>
        <p:spPr>
          <a:xfrm>
            <a:off x="0" y="4260949"/>
            <a:ext cx="8636000" cy="226314"/>
          </a:xfrm>
          <a:prstGeom prst="rect">
            <a:avLst/>
          </a:prstGeom>
          <a:noFill/>
          <a:ln/>
        </p:spPr>
        <p:txBody>
          <a:bodyPr wrap="square" lIns="0" tIns="0" rIns="0" bIns="0" rtlCol="0" anchor="t"/>
          <a:lstStyle/>
          <a:p>
            <a:pPr algn="r" indent="0" marL="0">
              <a:lnSpc>
                <a:spcPts val="1650"/>
              </a:lnSpc>
              <a:buNone/>
            </a:pPr>
            <a:r>
              <a:rPr lang="en-US" sz="1100" dirty="0">
                <a:solidFill>
                  <a:srgbClr val="FFFFFF">
                    <a:alpha val="75000"/>
                  </a:srgbClr>
                </a:solidFill>
                <a:latin typeface="Trebuchet MS" pitchFamily="34" charset="0"/>
                <a:ea typeface="Trebuchet MS" pitchFamily="34" charset="-122"/>
                <a:cs typeface="Trebuchet MS" pitchFamily="34" charset="-120"/>
              </a:rPr>
              <a:t>B. Pavan Kalyan</a:t>
            </a:r>
            <a:endParaRPr lang="en-US" sz="1100" dirty="0"/>
          </a:p>
        </p:txBody>
      </p:sp>
      <p:sp>
        <p:nvSpPr>
          <p:cNvPr id="13" name="Text 9"/>
          <p:cNvSpPr/>
          <p:nvPr/>
        </p:nvSpPr>
        <p:spPr>
          <a:xfrm>
            <a:off x="0" y="4470499"/>
            <a:ext cx="8636000" cy="226314"/>
          </a:xfrm>
          <a:prstGeom prst="rect">
            <a:avLst/>
          </a:prstGeom>
          <a:noFill/>
          <a:ln/>
        </p:spPr>
        <p:txBody>
          <a:bodyPr wrap="square" lIns="0" tIns="0" rIns="0" bIns="0" rtlCol="0" anchor="t"/>
          <a:lstStyle/>
          <a:p>
            <a:pPr algn="r" indent="0" marL="0">
              <a:lnSpc>
                <a:spcPts val="1650"/>
              </a:lnSpc>
              <a:buNone/>
            </a:pPr>
            <a:r>
              <a:rPr lang="en-US" sz="1100" dirty="0">
                <a:solidFill>
                  <a:srgbClr val="FFFFFF">
                    <a:alpha val="75000"/>
                  </a:srgbClr>
                </a:solidFill>
                <a:latin typeface="Trebuchet MS" pitchFamily="34" charset="0"/>
                <a:ea typeface="Trebuchet MS" pitchFamily="34" charset="-122"/>
                <a:cs typeface="Trebuchet MS" pitchFamily="34" charset="-120"/>
              </a:rPr>
              <a:t>A. Chandini Sri Latha</a:t>
            </a:r>
            <a:endParaRPr lang="en-US" sz="1100" dirty="0"/>
          </a:p>
        </p:txBody>
      </p:sp>
      <p:sp>
        <p:nvSpPr>
          <p:cNvPr id="14" name="Text 10"/>
          <p:cNvSpPr/>
          <p:nvPr/>
        </p:nvSpPr>
        <p:spPr>
          <a:xfrm>
            <a:off x="0" y="4680049"/>
            <a:ext cx="8636000" cy="226314"/>
          </a:xfrm>
          <a:prstGeom prst="rect">
            <a:avLst/>
          </a:prstGeom>
          <a:noFill/>
          <a:ln/>
        </p:spPr>
        <p:txBody>
          <a:bodyPr wrap="square" lIns="0" tIns="0" rIns="0" bIns="0" rtlCol="0" anchor="t"/>
          <a:lstStyle/>
          <a:p>
            <a:pPr algn="r" indent="0" marL="0">
              <a:lnSpc>
                <a:spcPts val="1650"/>
              </a:lnSpc>
              <a:buNone/>
            </a:pPr>
            <a:r>
              <a:rPr lang="en-US" sz="1100" dirty="0">
                <a:solidFill>
                  <a:srgbClr val="FFFFFF">
                    <a:alpha val="75000"/>
                  </a:srgbClr>
                </a:solidFill>
                <a:latin typeface="Trebuchet MS" pitchFamily="34" charset="0"/>
                <a:ea typeface="Trebuchet MS" pitchFamily="34" charset="-122"/>
                <a:cs typeface="Trebuchet MS" pitchFamily="34" charset="-120"/>
              </a:rPr>
              <a:t>N. Rama Krishna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525"/>
        </a:solidFill>
      </p:bgPr>
    </p:bg>
    <p:spTree>
      <p:nvGrpSpPr>
        <p:cNvPr id="1" name=""/>
        <p:cNvGrpSpPr/>
        <p:nvPr/>
      </p:nvGrpSpPr>
      <p:grpSpPr>
        <a:xfrm>
          <a:off x="0" y="0"/>
          <a:ext cx="0" cy="0"/>
          <a:chOff x="0" y="0"/>
          <a:chExt cx="0" cy="0"/>
        </a:xfrm>
      </p:grpSpPr>
      <p:sp>
        <p:nvSpPr>
          <p:cNvPr id="2" name="Text 0"/>
          <p:cNvSpPr/>
          <p:nvPr/>
        </p:nvSpPr>
        <p:spPr>
          <a:xfrm>
            <a:off x="0" y="0"/>
            <a:ext cx="9144000" cy="50750"/>
          </a:xfrm>
          <a:prstGeom prst="rect">
            <a:avLst/>
          </a:prstGeom>
          <a:solidFill>
            <a:srgbClr val="44D1E4"/>
          </a:solidFill>
          <a:ln/>
        </p:spPr>
        <p:txBody>
          <a:bodyPr wrap="square" rtlCol="0" anchor="ctr"/>
          <a:lstStyle/>
          <a:p>
            <a:pPr indent="0" marL="0">
              <a:buNone/>
            </a:pPr>
            <a:endParaRPr lang="en-US" dirty="0"/>
          </a:p>
        </p:txBody>
      </p:sp>
      <p:sp>
        <p:nvSpPr>
          <p:cNvPr id="3" name="Text 1"/>
          <p:cNvSpPr/>
          <p:nvPr/>
        </p:nvSpPr>
        <p:spPr>
          <a:xfrm>
            <a:off x="609600" y="304651"/>
            <a:ext cx="3951306" cy="390906"/>
          </a:xfrm>
          <a:prstGeom prst="rect">
            <a:avLst/>
          </a:prstGeom>
          <a:noFill/>
          <a:ln/>
        </p:spPr>
        <p:txBody>
          <a:bodyPr wrap="none" lIns="0" tIns="0" rIns="0" bIns="0" rtlCol="0" anchor="t"/>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The Reporting Gap</a:t>
            </a:r>
            <a:endParaRPr lang="en-US" sz="2600" dirty="0"/>
          </a:p>
        </p:txBody>
      </p:sp>
      <p:sp>
        <p:nvSpPr>
          <p:cNvPr id="4" name="Text 2"/>
          <p:cNvSpPr/>
          <p:nvPr/>
        </p:nvSpPr>
        <p:spPr>
          <a:xfrm>
            <a:off x="609600" y="752326"/>
            <a:ext cx="507950" cy="38100"/>
          </a:xfrm>
          <a:prstGeom prst="rect">
            <a:avLst/>
          </a:prstGeom>
          <a:solidFill>
            <a:srgbClr val="EDCD82"/>
          </a:solidFill>
          <a:ln/>
        </p:spPr>
        <p:txBody>
          <a:bodyPr wrap="square" rtlCol="0" anchor="ctr"/>
          <a:lstStyle/>
          <a:p>
            <a:pPr indent="0" marL="0">
              <a:buNone/>
            </a:pPr>
            <a:endParaRPr lang="en-US" dirty="0"/>
          </a:p>
        </p:txBody>
      </p:sp>
      <p:sp>
        <p:nvSpPr>
          <p:cNvPr id="5" name="Text 3"/>
          <p:cNvSpPr/>
          <p:nvPr/>
        </p:nvSpPr>
        <p:spPr>
          <a:xfrm>
            <a:off x="609600" y="942826"/>
            <a:ext cx="7924800" cy="705296"/>
          </a:xfrm>
          <a:prstGeom prst="roundRect">
            <a:avLst>
              <a:gd name="adj" fmla="val 14405"/>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6" name="Image 0" descr="/home/z/my-project/download/crimeaware-ppt/assets/icon-alert.png">    </p:cNvPr>
          <p:cNvPicPr>
            <a:picLocks noChangeAspect="1"/>
          </p:cNvPicPr>
          <p:nvPr/>
        </p:nvPicPr>
        <p:blipFill>
          <a:blip r:embed="rId1"/>
          <a:stretch>
            <a:fillRect/>
          </a:stretch>
        </p:blipFill>
        <p:spPr>
          <a:xfrm>
            <a:off x="822275" y="1104602"/>
            <a:ext cx="304800" cy="304800"/>
          </a:xfrm>
          <a:prstGeom prst="rect">
            <a:avLst/>
          </a:prstGeom>
        </p:spPr>
      </p:pic>
      <p:sp>
        <p:nvSpPr>
          <p:cNvPr id="7" name="Text 4"/>
          <p:cNvSpPr/>
          <p:nvPr/>
        </p:nvSpPr>
        <p:spPr>
          <a:xfrm>
            <a:off x="1279475" y="1079302"/>
            <a:ext cx="1998875" cy="226314"/>
          </a:xfrm>
          <a:prstGeom prst="rect">
            <a:avLst/>
          </a:prstGeom>
          <a:noFill/>
          <a:ln/>
        </p:spPr>
        <p:txBody>
          <a:bodyPr wrap="square" lIns="0" tIns="0" rIns="0" bIns="0" rtlCol="0" anchor="t"/>
          <a:lstStyle/>
          <a:p>
            <a:pPr algn="l" indent="0" marL="0">
              <a:buNone/>
            </a:pPr>
            <a:r>
              <a:rPr lang="en-US" sz="1500" b="1" dirty="0">
                <a:solidFill>
                  <a:srgbClr val="EDCD82"/>
                </a:solidFill>
                <a:latin typeface="Trebuchet MS" pitchFamily="34" charset="0"/>
                <a:ea typeface="Trebuchet MS" pitchFamily="34" charset="-122"/>
                <a:cs typeface="Trebuchet MS" pitchFamily="34" charset="-120"/>
              </a:rPr>
              <a:t>The Silence Factor</a:t>
            </a:r>
            <a:endParaRPr lang="en-US" sz="1500" dirty="0"/>
          </a:p>
        </p:txBody>
      </p:sp>
      <p:sp>
        <p:nvSpPr>
          <p:cNvPr id="8" name="Text 5"/>
          <p:cNvSpPr/>
          <p:nvPr/>
        </p:nvSpPr>
        <p:spPr>
          <a:xfrm>
            <a:off x="1279475" y="1317427"/>
            <a:ext cx="4878095" cy="174879"/>
          </a:xfrm>
          <a:prstGeom prst="rect">
            <a:avLst/>
          </a:prstGeom>
          <a:noFill/>
          <a:ln/>
        </p:spPr>
        <p:txBody>
          <a:bodyPr wrap="square" lIns="0" tIns="0" rIns="0" bIns="0" rtlCol="0" anchor="t"/>
          <a:lstStyle/>
          <a:p>
            <a:pPr algn="l" indent="0" marL="0">
              <a:lnSpc>
                <a:spcPts val="1680"/>
              </a:lnSpc>
              <a:buNone/>
            </a:pPr>
            <a:r>
              <a:rPr lang="en-US" sz="1200" dirty="0">
                <a:solidFill>
                  <a:srgbClr val="FFFFFF">
                    <a:alpha val="70000"/>
                  </a:srgbClr>
                </a:solidFill>
                <a:latin typeface="Trebuchet MS" pitchFamily="34" charset="0"/>
                <a:ea typeface="Trebuchet MS" pitchFamily="34" charset="-122"/>
                <a:cs typeface="Trebuchet MS" pitchFamily="34" charset="-120"/>
              </a:rPr>
              <a:t>Fear of retaliation causes 50%+ of minor crimes to go unreported.</a:t>
            </a:r>
            <a:endParaRPr lang="en-US" sz="1200" dirty="0"/>
          </a:p>
        </p:txBody>
      </p:sp>
      <p:sp>
        <p:nvSpPr>
          <p:cNvPr id="9" name="Text 6"/>
          <p:cNvSpPr/>
          <p:nvPr/>
        </p:nvSpPr>
        <p:spPr>
          <a:xfrm>
            <a:off x="609600" y="1749623"/>
            <a:ext cx="7924800" cy="705296"/>
          </a:xfrm>
          <a:prstGeom prst="roundRect">
            <a:avLst>
              <a:gd name="adj" fmla="val 14405"/>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10" name="Image 1" descr="/home/z/my-project/download/crimeaware-ppt/assets/icon-alert.png">    </p:cNvPr>
          <p:cNvPicPr>
            <a:picLocks noChangeAspect="1"/>
          </p:cNvPicPr>
          <p:nvPr/>
        </p:nvPicPr>
        <p:blipFill>
          <a:blip r:embed="rId2"/>
          <a:stretch>
            <a:fillRect/>
          </a:stretch>
        </p:blipFill>
        <p:spPr>
          <a:xfrm>
            <a:off x="822275" y="1911400"/>
            <a:ext cx="304800" cy="304800"/>
          </a:xfrm>
          <a:prstGeom prst="rect">
            <a:avLst/>
          </a:prstGeom>
        </p:spPr>
      </p:pic>
      <p:sp>
        <p:nvSpPr>
          <p:cNvPr id="11" name="Text 7"/>
          <p:cNvSpPr/>
          <p:nvPr/>
        </p:nvSpPr>
        <p:spPr>
          <a:xfrm>
            <a:off x="1279475" y="1886099"/>
            <a:ext cx="2273716" cy="226314"/>
          </a:xfrm>
          <a:prstGeom prst="rect">
            <a:avLst/>
          </a:prstGeom>
          <a:noFill/>
          <a:ln/>
        </p:spPr>
        <p:txBody>
          <a:bodyPr wrap="square" lIns="0" tIns="0" rIns="0" bIns="0" rtlCol="0" anchor="t"/>
          <a:lstStyle/>
          <a:p>
            <a:pPr algn="l" indent="0" marL="0">
              <a:buNone/>
            </a:pPr>
            <a:r>
              <a:rPr lang="en-US" sz="1500" b="1" dirty="0">
                <a:solidFill>
                  <a:srgbClr val="EDCD82"/>
                </a:solidFill>
                <a:latin typeface="Trebuchet MS" pitchFamily="34" charset="0"/>
                <a:ea typeface="Trebuchet MS" pitchFamily="34" charset="-122"/>
                <a:cs typeface="Trebuchet MS" pitchFamily="34" charset="-120"/>
              </a:rPr>
              <a:t>Fragmented Systems</a:t>
            </a:r>
            <a:endParaRPr lang="en-US" sz="1500" dirty="0"/>
          </a:p>
        </p:txBody>
      </p:sp>
      <p:sp>
        <p:nvSpPr>
          <p:cNvPr id="12" name="Text 8"/>
          <p:cNvSpPr/>
          <p:nvPr/>
        </p:nvSpPr>
        <p:spPr>
          <a:xfrm>
            <a:off x="1279475" y="2124224"/>
            <a:ext cx="5491192" cy="174879"/>
          </a:xfrm>
          <a:prstGeom prst="rect">
            <a:avLst/>
          </a:prstGeom>
          <a:noFill/>
          <a:ln/>
        </p:spPr>
        <p:txBody>
          <a:bodyPr wrap="square" lIns="0" tIns="0" rIns="0" bIns="0" rtlCol="0" anchor="t"/>
          <a:lstStyle/>
          <a:p>
            <a:pPr algn="l" indent="0" marL="0">
              <a:lnSpc>
                <a:spcPts val="1680"/>
              </a:lnSpc>
              <a:buNone/>
            </a:pPr>
            <a:r>
              <a:rPr lang="en-US" sz="1200" dirty="0">
                <a:solidFill>
                  <a:srgbClr val="FFFFFF">
                    <a:alpha val="70000"/>
                  </a:srgbClr>
                </a:solidFill>
                <a:latin typeface="Trebuchet MS" pitchFamily="34" charset="0"/>
                <a:ea typeface="Trebuchet MS" pitchFamily="34" charset="-122"/>
                <a:cs typeface="Trebuchet MS" pitchFamily="34" charset="-120"/>
              </a:rPr>
              <a:t>No single, accessible platform exists for citizens to log incidents efficiently.</a:t>
            </a:r>
            <a:endParaRPr lang="en-US" sz="1200" dirty="0"/>
          </a:p>
        </p:txBody>
      </p:sp>
      <p:sp>
        <p:nvSpPr>
          <p:cNvPr id="13" name="Text 9"/>
          <p:cNvSpPr/>
          <p:nvPr/>
        </p:nvSpPr>
        <p:spPr>
          <a:xfrm>
            <a:off x="609600" y="2556421"/>
            <a:ext cx="7924800" cy="705296"/>
          </a:xfrm>
          <a:prstGeom prst="roundRect">
            <a:avLst>
              <a:gd name="adj" fmla="val 14405"/>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14" name="Image 2" descr="/home/z/my-project/download/crimeaware-ppt/assets/icon-alert.png">    </p:cNvPr>
          <p:cNvPicPr>
            <a:picLocks noChangeAspect="1"/>
          </p:cNvPicPr>
          <p:nvPr/>
        </p:nvPicPr>
        <p:blipFill>
          <a:blip r:embed="rId3"/>
          <a:stretch>
            <a:fillRect/>
          </a:stretch>
        </p:blipFill>
        <p:spPr>
          <a:xfrm>
            <a:off x="822275" y="2718197"/>
            <a:ext cx="304800" cy="304800"/>
          </a:xfrm>
          <a:prstGeom prst="rect">
            <a:avLst/>
          </a:prstGeom>
        </p:spPr>
      </p:pic>
      <p:sp>
        <p:nvSpPr>
          <p:cNvPr id="15" name="Text 10"/>
          <p:cNvSpPr/>
          <p:nvPr/>
        </p:nvSpPr>
        <p:spPr>
          <a:xfrm>
            <a:off x="1279475" y="2692896"/>
            <a:ext cx="2514838" cy="226314"/>
          </a:xfrm>
          <a:prstGeom prst="rect">
            <a:avLst/>
          </a:prstGeom>
          <a:noFill/>
          <a:ln/>
        </p:spPr>
        <p:txBody>
          <a:bodyPr wrap="square" lIns="0" tIns="0" rIns="0" bIns="0" rtlCol="0" anchor="t"/>
          <a:lstStyle/>
          <a:p>
            <a:pPr algn="l" indent="0" marL="0">
              <a:buNone/>
            </a:pPr>
            <a:r>
              <a:rPr lang="en-US" sz="1500" b="1" dirty="0">
                <a:solidFill>
                  <a:srgbClr val="EDCD82"/>
                </a:solidFill>
                <a:latin typeface="Trebuchet MS" pitchFamily="34" charset="0"/>
                <a:ea typeface="Trebuchet MS" pitchFamily="34" charset="-122"/>
                <a:cs typeface="Trebuchet MS" pitchFamily="34" charset="-120"/>
              </a:rPr>
              <a:t>Information Asymmetry</a:t>
            </a:r>
            <a:endParaRPr lang="en-US" sz="1500" dirty="0"/>
          </a:p>
        </p:txBody>
      </p:sp>
      <p:sp>
        <p:nvSpPr>
          <p:cNvPr id="16" name="Text 11"/>
          <p:cNvSpPr/>
          <p:nvPr/>
        </p:nvSpPr>
        <p:spPr>
          <a:xfrm>
            <a:off x="1279475" y="2931021"/>
            <a:ext cx="4407426" cy="174879"/>
          </a:xfrm>
          <a:prstGeom prst="rect">
            <a:avLst/>
          </a:prstGeom>
          <a:noFill/>
          <a:ln/>
        </p:spPr>
        <p:txBody>
          <a:bodyPr wrap="square" lIns="0" tIns="0" rIns="0" bIns="0" rtlCol="0" anchor="t"/>
          <a:lstStyle/>
          <a:p>
            <a:pPr algn="l" indent="0" marL="0">
              <a:lnSpc>
                <a:spcPts val="1680"/>
              </a:lnSpc>
              <a:buNone/>
            </a:pPr>
            <a:r>
              <a:rPr lang="en-US" sz="1200" dirty="0">
                <a:solidFill>
                  <a:srgbClr val="FFFFFF">
                    <a:alpha val="70000"/>
                  </a:srgbClr>
                </a:solidFill>
                <a:latin typeface="Trebuchet MS" pitchFamily="34" charset="0"/>
                <a:ea typeface="Trebuchet MS" pitchFamily="34" charset="-122"/>
                <a:cs typeface="Trebuchet MS" pitchFamily="34" charset="-120"/>
              </a:rPr>
              <a:t>Communities unaware of localized threats until it is too late.</a:t>
            </a:r>
            <a:endParaRPr lang="en-US" sz="1200" dirty="0"/>
          </a:p>
        </p:txBody>
      </p:sp>
      <p:sp>
        <p:nvSpPr>
          <p:cNvPr id="17" name="Text 12"/>
          <p:cNvSpPr/>
          <p:nvPr/>
        </p:nvSpPr>
        <p:spPr>
          <a:xfrm>
            <a:off x="609600" y="3363218"/>
            <a:ext cx="7924800" cy="705296"/>
          </a:xfrm>
          <a:prstGeom prst="roundRect">
            <a:avLst>
              <a:gd name="adj" fmla="val 14405"/>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18" name="Image 3" descr="/home/z/my-project/download/crimeaware-ppt/assets/icon-alert.png">    </p:cNvPr>
          <p:cNvPicPr>
            <a:picLocks noChangeAspect="1"/>
          </p:cNvPicPr>
          <p:nvPr/>
        </p:nvPicPr>
        <p:blipFill>
          <a:blip r:embed="rId4"/>
          <a:stretch>
            <a:fillRect/>
          </a:stretch>
        </p:blipFill>
        <p:spPr>
          <a:xfrm>
            <a:off x="822275" y="3524994"/>
            <a:ext cx="304800" cy="304800"/>
          </a:xfrm>
          <a:prstGeom prst="rect">
            <a:avLst/>
          </a:prstGeom>
        </p:spPr>
      </p:pic>
      <p:sp>
        <p:nvSpPr>
          <p:cNvPr id="19" name="Text 13"/>
          <p:cNvSpPr/>
          <p:nvPr/>
        </p:nvSpPr>
        <p:spPr>
          <a:xfrm>
            <a:off x="1279475" y="3499693"/>
            <a:ext cx="2111094" cy="226314"/>
          </a:xfrm>
          <a:prstGeom prst="rect">
            <a:avLst/>
          </a:prstGeom>
          <a:noFill/>
          <a:ln/>
        </p:spPr>
        <p:txBody>
          <a:bodyPr wrap="square" lIns="0" tIns="0" rIns="0" bIns="0" rtlCol="0" anchor="t"/>
          <a:lstStyle/>
          <a:p>
            <a:pPr algn="l" indent="0" marL="0">
              <a:buNone/>
            </a:pPr>
            <a:r>
              <a:rPr lang="en-US" sz="1500" b="1" dirty="0">
                <a:solidFill>
                  <a:srgbClr val="EDCD82"/>
                </a:solidFill>
                <a:latin typeface="Trebuchet MS" pitchFamily="34" charset="0"/>
                <a:ea typeface="Trebuchet MS" pitchFamily="34" charset="-122"/>
                <a:cs typeface="Trebuchet MS" pitchFamily="34" charset="-120"/>
              </a:rPr>
              <a:t>Manual Bottlenecks</a:t>
            </a:r>
            <a:endParaRPr lang="en-US" sz="1500" dirty="0"/>
          </a:p>
        </p:txBody>
      </p:sp>
      <p:sp>
        <p:nvSpPr>
          <p:cNvPr id="20" name="Text 14"/>
          <p:cNvSpPr/>
          <p:nvPr/>
        </p:nvSpPr>
        <p:spPr>
          <a:xfrm>
            <a:off x="1279475" y="3737818"/>
            <a:ext cx="5022652" cy="174879"/>
          </a:xfrm>
          <a:prstGeom prst="rect">
            <a:avLst/>
          </a:prstGeom>
          <a:noFill/>
          <a:ln/>
        </p:spPr>
        <p:txBody>
          <a:bodyPr wrap="square" lIns="0" tIns="0" rIns="0" bIns="0" rtlCol="0" anchor="t"/>
          <a:lstStyle/>
          <a:p>
            <a:pPr algn="l" indent="0" marL="0">
              <a:lnSpc>
                <a:spcPts val="1680"/>
              </a:lnSpc>
              <a:buNone/>
            </a:pPr>
            <a:r>
              <a:rPr lang="en-US" sz="1200" dirty="0">
                <a:solidFill>
                  <a:srgbClr val="FFFFFF">
                    <a:alpha val="70000"/>
                  </a:srgbClr>
                </a:solidFill>
                <a:latin typeface="Trebuchet MS" pitchFamily="34" charset="0"/>
                <a:ea typeface="Trebuchet MS" pitchFamily="34" charset="-122"/>
                <a:cs typeface="Trebuchet MS" pitchFamily="34" charset="-120"/>
              </a:rPr>
              <a:t>Authorities rely on slow, paper-based tracking that delays response.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235"/>
        </a:solidFill>
      </p:bgPr>
    </p:bg>
    <p:spTree>
      <p:nvGrpSpPr>
        <p:cNvPr id="1" name=""/>
        <p:cNvGrpSpPr/>
        <p:nvPr/>
      </p:nvGrpSpPr>
      <p:grpSpPr>
        <a:xfrm>
          <a:off x="0" y="0"/>
          <a:ext cx="0" cy="0"/>
          <a:chOff x="0" y="0"/>
          <a:chExt cx="0" cy="0"/>
        </a:xfrm>
      </p:grpSpPr>
      <p:sp>
        <p:nvSpPr>
          <p:cNvPr id="2" name="Text 0"/>
          <p:cNvSpPr/>
          <p:nvPr/>
        </p:nvSpPr>
        <p:spPr>
          <a:xfrm>
            <a:off x="0" y="0"/>
            <a:ext cx="3048000" cy="5143500"/>
          </a:xfrm>
          <a:prstGeom prst="rect">
            <a:avLst/>
          </a:prstGeom>
          <a:solidFill>
            <a:srgbClr val="44D1E4"/>
          </a:solidFill>
          <a:ln/>
        </p:spPr>
        <p:txBody>
          <a:bodyPr wrap="square" rtlCol="0" anchor="ctr"/>
          <a:lstStyle/>
          <a:p>
            <a:pPr indent="0" marL="0">
              <a:buNone/>
            </a:pPr>
            <a:endParaRPr lang="en-US" dirty="0"/>
          </a:p>
        </p:txBody>
      </p:sp>
      <p:sp>
        <p:nvSpPr>
          <p:cNvPr id="3" name="Text 1"/>
          <p:cNvSpPr/>
          <p:nvPr/>
        </p:nvSpPr>
        <p:spPr>
          <a:xfrm>
            <a:off x="279350" y="1455688"/>
            <a:ext cx="2613764" cy="1324612"/>
          </a:xfrm>
          <a:prstGeom prst="rect">
            <a:avLst/>
          </a:prstGeom>
          <a:noFill/>
          <a:ln/>
        </p:spPr>
        <p:txBody>
          <a:bodyPr wrap="square" lIns="0" tIns="0" rIns="0" bIns="0" rtlCol="0" anchor="t"/>
          <a:lstStyle/>
          <a:p>
            <a:pPr algn="l" indent="0" marL="0">
              <a:lnSpc>
                <a:spcPts val="3220"/>
              </a:lnSpc>
              <a:buNone/>
            </a:pPr>
            <a:r>
              <a:rPr lang="en-US" sz="2800" b="1" dirty="0">
                <a:solidFill>
                  <a:srgbClr val="FFFFFF"/>
                </a:solidFill>
                <a:latin typeface="Trebuchet MS" pitchFamily="34" charset="0"/>
                <a:ea typeface="Trebuchet MS" pitchFamily="34" charset="-122"/>
                <a:cs typeface="Trebuchet MS" pitchFamily="34" charset="-120"/>
              </a:rPr>
              <a:t>Bridging the Gap with CrimeAware</a:t>
            </a:r>
            <a:endParaRPr lang="en-US" sz="2800" dirty="0"/>
          </a:p>
        </p:txBody>
      </p:sp>
      <p:sp>
        <p:nvSpPr>
          <p:cNvPr id="4" name="Text 2"/>
          <p:cNvSpPr/>
          <p:nvPr/>
        </p:nvSpPr>
        <p:spPr>
          <a:xfrm>
            <a:off x="279350" y="2834580"/>
            <a:ext cx="406301" cy="38100"/>
          </a:xfrm>
          <a:prstGeom prst="rect">
            <a:avLst/>
          </a:prstGeom>
          <a:solidFill>
            <a:srgbClr val="FFFFFF">
              <a:alpha val="50000"/>
            </a:srgbClr>
          </a:solidFill>
          <a:ln/>
        </p:spPr>
        <p:txBody>
          <a:bodyPr wrap="square" rtlCol="0" anchor="ctr"/>
          <a:lstStyle/>
          <a:p>
            <a:pPr indent="0" marL="0">
              <a:buNone/>
            </a:pPr>
            <a:endParaRPr lang="en-US" dirty="0"/>
          </a:p>
        </p:txBody>
      </p:sp>
      <p:sp>
        <p:nvSpPr>
          <p:cNvPr id="5" name="Text 3"/>
          <p:cNvSpPr/>
          <p:nvPr/>
        </p:nvSpPr>
        <p:spPr>
          <a:xfrm>
            <a:off x="279350" y="3025080"/>
            <a:ext cx="2613764" cy="715589"/>
          </a:xfrm>
          <a:prstGeom prst="rect">
            <a:avLst/>
          </a:prstGeom>
          <a:noFill/>
          <a:ln/>
        </p:spPr>
        <p:txBody>
          <a:bodyPr wrap="square" lIns="0" tIns="0" rIns="0" bIns="0" rtlCol="0" anchor="t"/>
          <a:lstStyle/>
          <a:p>
            <a:pPr algn="l" indent="0" marL="0">
              <a:lnSpc>
                <a:spcPts val="1740"/>
              </a:lnSpc>
              <a:spcBef>
                <a:spcPts val="1200"/>
              </a:spcBef>
              <a:buNone/>
            </a:pPr>
            <a:r>
              <a:rPr lang="en-US" sz="1200" dirty="0">
                <a:solidFill>
                  <a:srgbClr val="FFFFFF">
                    <a:alpha val="85000"/>
                  </a:srgbClr>
                </a:solidFill>
                <a:latin typeface="Trebuchet MS" pitchFamily="34" charset="0"/>
                <a:ea typeface="Trebuchet MS" pitchFamily="34" charset="-122"/>
                <a:cs typeface="Trebuchet MS" pitchFamily="34" charset="-120"/>
              </a:rPr>
              <a:t>A centralized web ecosystem transforming passive citizens into active contributors.</a:t>
            </a:r>
            <a:endParaRPr lang="en-US" sz="1200" dirty="0"/>
          </a:p>
        </p:txBody>
      </p:sp>
      <p:sp>
        <p:nvSpPr>
          <p:cNvPr id="6" name="Text 4"/>
          <p:cNvSpPr/>
          <p:nvPr/>
        </p:nvSpPr>
        <p:spPr>
          <a:xfrm>
            <a:off x="3555950" y="1556296"/>
            <a:ext cx="50750" cy="507950"/>
          </a:xfrm>
          <a:prstGeom prst="roundRect">
            <a:avLst>
              <a:gd name="adj" fmla="val 50049"/>
            </a:avLst>
          </a:prstGeom>
          <a:solidFill>
            <a:srgbClr val="44D1E4"/>
          </a:solidFill>
          <a:ln/>
        </p:spPr>
        <p:txBody>
          <a:bodyPr wrap="square" rtlCol="0" anchor="ctr"/>
          <a:lstStyle/>
          <a:p>
            <a:pPr indent="0" marL="0">
              <a:buNone/>
            </a:pPr>
            <a:endParaRPr lang="en-US" dirty="0"/>
          </a:p>
        </p:txBody>
      </p:sp>
      <p:sp>
        <p:nvSpPr>
          <p:cNvPr id="7" name="Text 5"/>
          <p:cNvSpPr/>
          <p:nvPr/>
        </p:nvSpPr>
        <p:spPr>
          <a:xfrm>
            <a:off x="3733651" y="1530995"/>
            <a:ext cx="5410349" cy="285143"/>
          </a:xfrm>
          <a:prstGeom prst="rect">
            <a:avLst/>
          </a:prstGeom>
          <a:noFill/>
          <a:ln/>
        </p:spPr>
        <p:txBody>
          <a:bodyPr wrap="square" lIns="0" tIns="0" rIns="0" bIns="0" rtlCol="0" anchor="t"/>
          <a:lstStyle/>
          <a:p>
            <a:pPr algn="l" indent="0" marL="0">
              <a:lnSpc>
                <a:spcPts val="2080"/>
              </a:lnSpc>
              <a:spcAft>
                <a:spcPts val="300"/>
              </a:spcAft>
              <a:buNone/>
            </a:pPr>
            <a:r>
              <a:rPr lang="en-US" sz="1600" b="1" dirty="0">
                <a:solidFill>
                  <a:srgbClr val="FFFFFF"/>
                </a:solidFill>
                <a:latin typeface="Trebuchet MS" pitchFamily="34" charset="0"/>
                <a:ea typeface="Trebuchet MS" pitchFamily="34" charset="-122"/>
                <a:cs typeface="Trebuchet MS" pitchFamily="34" charset="-120"/>
              </a:rPr>
              <a:t>For Citizens</a:t>
            </a:r>
            <a:endParaRPr lang="en-US" sz="1600" dirty="0"/>
          </a:p>
        </p:txBody>
      </p:sp>
      <p:sp>
        <p:nvSpPr>
          <p:cNvPr id="8" name="Text 6"/>
          <p:cNvSpPr/>
          <p:nvPr/>
        </p:nvSpPr>
        <p:spPr>
          <a:xfrm>
            <a:off x="3733651" y="1833116"/>
            <a:ext cx="5308491" cy="258461"/>
          </a:xfrm>
          <a:prstGeom prst="rect">
            <a:avLst/>
          </a:prstGeom>
          <a:noFill/>
          <a:ln/>
        </p:spPr>
        <p:txBody>
          <a:bodyPr wrap="square" lIns="0" tIns="0" rIns="0" bIns="0" rtlCol="0" anchor="t"/>
          <a:lstStyle/>
          <a:p>
            <a:pPr algn="l" indent="0" marL="0">
              <a:lnSpc>
                <a:spcPts val="1885"/>
              </a:lnSpc>
              <a:buNone/>
            </a:pPr>
            <a:r>
              <a:rPr lang="en-US" sz="1300" dirty="0">
                <a:solidFill>
                  <a:srgbClr val="FFFFFF">
                    <a:alpha val="70000"/>
                  </a:srgbClr>
                </a:solidFill>
                <a:latin typeface="Trebuchet MS" pitchFamily="34" charset="0"/>
                <a:ea typeface="Trebuchet MS" pitchFamily="34" charset="-122"/>
                <a:cs typeface="Trebuchet MS" pitchFamily="34" charset="-120"/>
              </a:rPr>
              <a:t>Zero-friction incident reporting in under 60 seconds.</a:t>
            </a:r>
            <a:endParaRPr lang="en-US" sz="1300" dirty="0"/>
          </a:p>
        </p:txBody>
      </p:sp>
      <p:sp>
        <p:nvSpPr>
          <p:cNvPr id="9" name="Text 7"/>
          <p:cNvSpPr/>
          <p:nvPr/>
        </p:nvSpPr>
        <p:spPr>
          <a:xfrm>
            <a:off x="3555950" y="2326332"/>
            <a:ext cx="50750" cy="507950"/>
          </a:xfrm>
          <a:prstGeom prst="roundRect">
            <a:avLst>
              <a:gd name="adj" fmla="val 50049"/>
            </a:avLst>
          </a:prstGeom>
          <a:solidFill>
            <a:srgbClr val="EDCD82"/>
          </a:solidFill>
          <a:ln/>
        </p:spPr>
        <p:txBody>
          <a:bodyPr wrap="square" rtlCol="0" anchor="ctr"/>
          <a:lstStyle/>
          <a:p>
            <a:pPr indent="0" marL="0">
              <a:buNone/>
            </a:pPr>
            <a:endParaRPr lang="en-US" dirty="0"/>
          </a:p>
        </p:txBody>
      </p:sp>
      <p:sp>
        <p:nvSpPr>
          <p:cNvPr id="10" name="Text 8"/>
          <p:cNvSpPr/>
          <p:nvPr/>
        </p:nvSpPr>
        <p:spPr>
          <a:xfrm>
            <a:off x="3733651" y="2301032"/>
            <a:ext cx="5308491" cy="285143"/>
          </a:xfrm>
          <a:prstGeom prst="rect">
            <a:avLst/>
          </a:prstGeom>
          <a:noFill/>
          <a:ln/>
        </p:spPr>
        <p:txBody>
          <a:bodyPr wrap="square" lIns="0" tIns="0" rIns="0" bIns="0" rtlCol="0" anchor="t"/>
          <a:lstStyle/>
          <a:p>
            <a:pPr algn="l" indent="0" marL="0">
              <a:lnSpc>
                <a:spcPts val="2080"/>
              </a:lnSpc>
              <a:spcAft>
                <a:spcPts val="300"/>
              </a:spcAft>
              <a:buNone/>
            </a:pPr>
            <a:r>
              <a:rPr lang="en-US" sz="1600" b="1" dirty="0">
                <a:solidFill>
                  <a:srgbClr val="FFFFFF"/>
                </a:solidFill>
                <a:latin typeface="Trebuchet MS" pitchFamily="34" charset="0"/>
                <a:ea typeface="Trebuchet MS" pitchFamily="34" charset="-122"/>
                <a:cs typeface="Trebuchet MS" pitchFamily="34" charset="-120"/>
              </a:rPr>
              <a:t>For Communities</a:t>
            </a:r>
            <a:endParaRPr lang="en-US" sz="1600" dirty="0"/>
          </a:p>
        </p:txBody>
      </p:sp>
      <p:sp>
        <p:nvSpPr>
          <p:cNvPr id="11" name="Text 9"/>
          <p:cNvSpPr/>
          <p:nvPr/>
        </p:nvSpPr>
        <p:spPr>
          <a:xfrm>
            <a:off x="3733651" y="2603153"/>
            <a:ext cx="5308491" cy="258461"/>
          </a:xfrm>
          <a:prstGeom prst="rect">
            <a:avLst/>
          </a:prstGeom>
          <a:noFill/>
          <a:ln/>
        </p:spPr>
        <p:txBody>
          <a:bodyPr wrap="square" lIns="0" tIns="0" rIns="0" bIns="0" rtlCol="0" anchor="t"/>
          <a:lstStyle/>
          <a:p>
            <a:pPr algn="l" indent="0" marL="0">
              <a:lnSpc>
                <a:spcPts val="1885"/>
              </a:lnSpc>
              <a:buNone/>
            </a:pPr>
            <a:r>
              <a:rPr lang="en-US" sz="1300" dirty="0">
                <a:solidFill>
                  <a:srgbClr val="FFFFFF">
                    <a:alpha val="70000"/>
                  </a:srgbClr>
                </a:solidFill>
                <a:latin typeface="Trebuchet MS" pitchFamily="34" charset="0"/>
                <a:ea typeface="Trebuchet MS" pitchFamily="34" charset="-122"/>
                <a:cs typeface="Trebuchet MS" pitchFamily="34" charset="-120"/>
              </a:rPr>
              <a:t>Live pulse of local safety data via dynamic dashboards.</a:t>
            </a:r>
            <a:endParaRPr lang="en-US" sz="1300" dirty="0"/>
          </a:p>
        </p:txBody>
      </p:sp>
      <p:sp>
        <p:nvSpPr>
          <p:cNvPr id="12" name="Text 10"/>
          <p:cNvSpPr/>
          <p:nvPr/>
        </p:nvSpPr>
        <p:spPr>
          <a:xfrm>
            <a:off x="3555950" y="3096369"/>
            <a:ext cx="50750" cy="507950"/>
          </a:xfrm>
          <a:prstGeom prst="roundRect">
            <a:avLst>
              <a:gd name="adj" fmla="val 50049"/>
            </a:avLst>
          </a:prstGeom>
          <a:solidFill>
            <a:srgbClr val="44D1E4"/>
          </a:solidFill>
          <a:ln/>
        </p:spPr>
        <p:txBody>
          <a:bodyPr wrap="square" rtlCol="0" anchor="ctr"/>
          <a:lstStyle/>
          <a:p>
            <a:pPr indent="0" marL="0">
              <a:buNone/>
            </a:pPr>
            <a:endParaRPr lang="en-US" dirty="0"/>
          </a:p>
        </p:txBody>
      </p:sp>
      <p:sp>
        <p:nvSpPr>
          <p:cNvPr id="13" name="Text 11"/>
          <p:cNvSpPr/>
          <p:nvPr/>
        </p:nvSpPr>
        <p:spPr>
          <a:xfrm>
            <a:off x="3733651" y="3071068"/>
            <a:ext cx="5308491" cy="285143"/>
          </a:xfrm>
          <a:prstGeom prst="rect">
            <a:avLst/>
          </a:prstGeom>
          <a:noFill/>
          <a:ln/>
        </p:spPr>
        <p:txBody>
          <a:bodyPr wrap="square" lIns="0" tIns="0" rIns="0" bIns="0" rtlCol="0" anchor="t"/>
          <a:lstStyle/>
          <a:p>
            <a:pPr algn="l" indent="0" marL="0">
              <a:lnSpc>
                <a:spcPts val="2080"/>
              </a:lnSpc>
              <a:spcAft>
                <a:spcPts val="300"/>
              </a:spcAft>
              <a:buNone/>
            </a:pPr>
            <a:r>
              <a:rPr lang="en-US" sz="1600" b="1" dirty="0">
                <a:solidFill>
                  <a:srgbClr val="FFFFFF"/>
                </a:solidFill>
                <a:latin typeface="Trebuchet MS" pitchFamily="34" charset="0"/>
                <a:ea typeface="Trebuchet MS" pitchFamily="34" charset="-122"/>
                <a:cs typeface="Trebuchet MS" pitchFamily="34" charset="-120"/>
              </a:rPr>
              <a:t>For Authorities</a:t>
            </a:r>
            <a:endParaRPr lang="en-US" sz="1600" dirty="0"/>
          </a:p>
        </p:txBody>
      </p:sp>
      <p:sp>
        <p:nvSpPr>
          <p:cNvPr id="14" name="Text 12"/>
          <p:cNvSpPr/>
          <p:nvPr/>
        </p:nvSpPr>
        <p:spPr>
          <a:xfrm>
            <a:off x="3733651" y="3373189"/>
            <a:ext cx="5308491" cy="258461"/>
          </a:xfrm>
          <a:prstGeom prst="rect">
            <a:avLst/>
          </a:prstGeom>
          <a:noFill/>
          <a:ln/>
        </p:spPr>
        <p:txBody>
          <a:bodyPr wrap="square" lIns="0" tIns="0" rIns="0" bIns="0" rtlCol="0" anchor="t"/>
          <a:lstStyle/>
          <a:p>
            <a:pPr algn="l" indent="0" marL="0">
              <a:lnSpc>
                <a:spcPts val="1885"/>
              </a:lnSpc>
              <a:buNone/>
            </a:pPr>
            <a:r>
              <a:rPr lang="en-US" sz="1300" dirty="0">
                <a:solidFill>
                  <a:srgbClr val="FFFFFF">
                    <a:alpha val="70000"/>
                  </a:srgbClr>
                </a:solidFill>
                <a:latin typeface="Trebuchet MS" pitchFamily="34" charset="0"/>
                <a:ea typeface="Trebuchet MS" pitchFamily="34" charset="-122"/>
                <a:cs typeface="Trebuchet MS" pitchFamily="34" charset="-120"/>
              </a:rPr>
              <a:t>Streamlined management with full status tracking.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D45"/>
        </a:solidFill>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22040"/>
          </a:solidFill>
          <a:ln/>
        </p:spPr>
        <p:txBody>
          <a:bodyPr wrap="square" rtlCol="0" anchor="ctr"/>
          <a:lstStyle/>
          <a:p>
            <a:pPr indent="0" marL="0">
              <a:buNone/>
            </a:pPr>
            <a:endParaRPr lang="en-US" dirty="0"/>
          </a:p>
        </p:txBody>
      </p:sp>
      <p:sp>
        <p:nvSpPr>
          <p:cNvPr id="3" name="Text 1"/>
          <p:cNvSpPr/>
          <p:nvPr/>
        </p:nvSpPr>
        <p:spPr>
          <a:xfrm>
            <a:off x="609600" y="180975"/>
            <a:ext cx="2461041" cy="377083"/>
          </a:xfrm>
          <a:prstGeom prst="rect">
            <a:avLst/>
          </a:prstGeom>
          <a:noFill/>
          <a:ln/>
        </p:spPr>
        <p:txBody>
          <a:bodyPr wrap="square" lIns="0" tIns="0" rIns="0" bIns="0" rtlCol="0" anchor="t"/>
          <a:lstStyle/>
          <a:p>
            <a:pPr algn="l" indent="0" marL="0">
              <a:lnSpc>
                <a:spcPts val="2750"/>
              </a:lnSpc>
              <a:buNone/>
            </a:pPr>
            <a:r>
              <a:rPr lang="en-US" sz="2200" b="1" dirty="0">
                <a:solidFill>
                  <a:srgbClr val="FFFFFF"/>
                </a:solidFill>
                <a:latin typeface="Trebuchet MS" pitchFamily="34" charset="0"/>
                <a:ea typeface="Trebuchet MS" pitchFamily="34" charset="-122"/>
                <a:cs typeface="Trebuchet MS" pitchFamily="34" charset="-120"/>
              </a:rPr>
              <a:t>Core Features</a:t>
            </a:r>
            <a:endParaRPr lang="en-US" sz="2200" dirty="0"/>
          </a:p>
        </p:txBody>
      </p:sp>
      <p:sp>
        <p:nvSpPr>
          <p:cNvPr id="4" name="Text 2"/>
          <p:cNvSpPr/>
          <p:nvPr/>
        </p:nvSpPr>
        <p:spPr>
          <a:xfrm>
            <a:off x="609600" y="965002"/>
            <a:ext cx="3873550" cy="1356122"/>
          </a:xfrm>
          <a:prstGeom prst="roundRect">
            <a:avLst>
              <a:gd name="adj" fmla="val 9365"/>
            </a:avLst>
          </a:prstGeom>
          <a:solidFill>
            <a:srgbClr val="162235"/>
          </a:solidFill>
          <a:ln/>
        </p:spPr>
        <p:txBody>
          <a:bodyPr wrap="square" rtlCol="0" anchor="ctr"/>
          <a:lstStyle/>
          <a:p>
            <a:pPr indent="0" marL="0">
              <a:buNone/>
            </a:pPr>
            <a:endParaRPr lang="en-US" dirty="0"/>
          </a:p>
        </p:txBody>
      </p:sp>
      <p:sp>
        <p:nvSpPr>
          <p:cNvPr id="5" name="Shape 3"/>
          <p:cNvSpPr/>
          <p:nvPr/>
        </p:nvSpPr>
        <p:spPr>
          <a:xfrm>
            <a:off x="633412" y="965002"/>
            <a:ext cx="0" cy="1356122"/>
          </a:xfrm>
          <a:prstGeom prst="line">
            <a:avLst/>
          </a:prstGeom>
          <a:noFill/>
          <a:ln w="47625">
            <a:solidFill>
              <a:srgbClr val="44D1E4"/>
            </a:solidFill>
            <a:prstDash val="solid"/>
          </a:ln>
        </p:spPr>
      </p:sp>
      <p:pic>
        <p:nvPicPr>
          <p:cNvPr id="6" name="Image 0" descr="/home/z/my-project/download/crimeaware-ppt/assets/icon-lock.png">    </p:cNvPr>
          <p:cNvPicPr>
            <a:picLocks noChangeAspect="1"/>
          </p:cNvPicPr>
          <p:nvPr/>
        </p:nvPicPr>
        <p:blipFill>
          <a:blip r:embed="rId1"/>
          <a:stretch>
            <a:fillRect/>
          </a:stretch>
        </p:blipFill>
        <p:spPr>
          <a:xfrm>
            <a:off x="885825" y="1193602"/>
            <a:ext cx="381000" cy="381000"/>
          </a:xfrm>
          <a:prstGeom prst="rect">
            <a:avLst/>
          </a:prstGeom>
        </p:spPr>
      </p:pic>
      <p:sp>
        <p:nvSpPr>
          <p:cNvPr id="7" name="Text 4"/>
          <p:cNvSpPr/>
          <p:nvPr/>
        </p:nvSpPr>
        <p:spPr>
          <a:xfrm>
            <a:off x="1393775" y="1252091"/>
            <a:ext cx="1474530" cy="285143"/>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Trebuchet MS" pitchFamily="34" charset="0"/>
                <a:ea typeface="Trebuchet MS" pitchFamily="34" charset="-122"/>
                <a:cs typeface="Trebuchet MS" pitchFamily="34" charset="-120"/>
              </a:rPr>
              <a:t>Secure Auth</a:t>
            </a:r>
            <a:endParaRPr lang="en-US" sz="1600" dirty="0"/>
          </a:p>
        </p:txBody>
      </p:sp>
      <p:sp>
        <p:nvSpPr>
          <p:cNvPr id="8" name="Text 5"/>
          <p:cNvSpPr/>
          <p:nvPr/>
        </p:nvSpPr>
        <p:spPr>
          <a:xfrm>
            <a:off x="885825" y="1650802"/>
            <a:ext cx="3537161" cy="477060"/>
          </a:xfrm>
          <a:prstGeom prst="rect">
            <a:avLst/>
          </a:prstGeom>
          <a:noFill/>
          <a:ln/>
        </p:spPr>
        <p:txBody>
          <a:bodyPr wrap="square" lIns="0" tIns="0" rIns="0" bIns="0" rtlCol="0" anchor="t"/>
          <a:lstStyle/>
          <a:p>
            <a:pPr algn="l" indent="0" marL="0">
              <a:lnSpc>
                <a:spcPts val="1740"/>
              </a:lnSpc>
              <a:buNone/>
            </a:pPr>
            <a:r>
              <a:rPr lang="en-US" sz="1200" dirty="0">
                <a:solidFill>
                  <a:srgbClr val="FFFFFF">
                    <a:alpha val="65000"/>
                  </a:srgbClr>
                </a:solidFill>
                <a:latin typeface="Trebuchet MS" pitchFamily="34" charset="0"/>
                <a:ea typeface="Trebuchet MS" pitchFamily="34" charset="-122"/>
                <a:cs typeface="Trebuchet MS" pitchFamily="34" charset="-120"/>
              </a:rPr>
              <a:t>Role-based access control separating User and Admin.</a:t>
            </a:r>
            <a:endParaRPr lang="en-US" sz="1200" dirty="0"/>
          </a:p>
        </p:txBody>
      </p:sp>
      <p:sp>
        <p:nvSpPr>
          <p:cNvPr id="9" name="Text 6"/>
          <p:cNvSpPr/>
          <p:nvPr/>
        </p:nvSpPr>
        <p:spPr>
          <a:xfrm>
            <a:off x="4660850" y="965002"/>
            <a:ext cx="3873550" cy="1356122"/>
          </a:xfrm>
          <a:prstGeom prst="roundRect">
            <a:avLst>
              <a:gd name="adj" fmla="val 9365"/>
            </a:avLst>
          </a:prstGeom>
          <a:solidFill>
            <a:srgbClr val="162235"/>
          </a:solidFill>
          <a:ln/>
        </p:spPr>
        <p:txBody>
          <a:bodyPr wrap="square" rtlCol="0" anchor="ctr"/>
          <a:lstStyle/>
          <a:p>
            <a:pPr indent="0" marL="0">
              <a:buNone/>
            </a:pPr>
            <a:endParaRPr lang="en-US" dirty="0"/>
          </a:p>
        </p:txBody>
      </p:sp>
      <p:sp>
        <p:nvSpPr>
          <p:cNvPr id="10" name="Shape 7"/>
          <p:cNvSpPr/>
          <p:nvPr/>
        </p:nvSpPr>
        <p:spPr>
          <a:xfrm>
            <a:off x="4684663" y="965002"/>
            <a:ext cx="0" cy="1356122"/>
          </a:xfrm>
          <a:prstGeom prst="line">
            <a:avLst/>
          </a:prstGeom>
          <a:noFill/>
          <a:ln w="47625">
            <a:solidFill>
              <a:srgbClr val="EDCD82"/>
            </a:solidFill>
            <a:prstDash val="solid"/>
          </a:ln>
        </p:spPr>
      </p:sp>
      <p:pic>
        <p:nvPicPr>
          <p:cNvPr id="11" name="Image 1" descr="/home/z/my-project/download/crimeaware-ppt/assets/icon-report.png">    </p:cNvPr>
          <p:cNvPicPr>
            <a:picLocks noChangeAspect="1"/>
          </p:cNvPicPr>
          <p:nvPr/>
        </p:nvPicPr>
        <p:blipFill>
          <a:blip r:embed="rId2"/>
          <a:stretch>
            <a:fillRect/>
          </a:stretch>
        </p:blipFill>
        <p:spPr>
          <a:xfrm>
            <a:off x="4937075" y="1193602"/>
            <a:ext cx="381000" cy="381000"/>
          </a:xfrm>
          <a:prstGeom prst="rect">
            <a:avLst/>
          </a:prstGeom>
        </p:spPr>
      </p:pic>
      <p:sp>
        <p:nvSpPr>
          <p:cNvPr id="12" name="Text 8"/>
          <p:cNvSpPr/>
          <p:nvPr/>
        </p:nvSpPr>
        <p:spPr>
          <a:xfrm>
            <a:off x="5445026" y="1252091"/>
            <a:ext cx="1878050" cy="285143"/>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Trebuchet MS" pitchFamily="34" charset="0"/>
                <a:ea typeface="Trebuchet MS" pitchFamily="34" charset="-122"/>
                <a:cs typeface="Trebuchet MS" pitchFamily="34" charset="-120"/>
              </a:rPr>
              <a:t>Smart Reporting</a:t>
            </a:r>
            <a:endParaRPr lang="en-US" sz="1600" dirty="0"/>
          </a:p>
        </p:txBody>
      </p:sp>
      <p:sp>
        <p:nvSpPr>
          <p:cNvPr id="13" name="Text 9"/>
          <p:cNvSpPr/>
          <p:nvPr/>
        </p:nvSpPr>
        <p:spPr>
          <a:xfrm>
            <a:off x="4937075" y="1650802"/>
            <a:ext cx="3705597" cy="238530"/>
          </a:xfrm>
          <a:prstGeom prst="rect">
            <a:avLst/>
          </a:prstGeom>
          <a:noFill/>
          <a:ln/>
        </p:spPr>
        <p:txBody>
          <a:bodyPr wrap="square" lIns="0" tIns="0" rIns="0" bIns="0" rtlCol="0" anchor="t"/>
          <a:lstStyle/>
          <a:p>
            <a:pPr algn="l" indent="0" marL="0">
              <a:lnSpc>
                <a:spcPts val="1740"/>
              </a:lnSpc>
              <a:buNone/>
            </a:pPr>
            <a:r>
              <a:rPr lang="en-US" sz="1200" dirty="0">
                <a:solidFill>
                  <a:srgbClr val="FFFFFF">
                    <a:alpha val="65000"/>
                  </a:srgbClr>
                </a:solidFill>
                <a:latin typeface="Trebuchet MS" pitchFamily="34" charset="0"/>
                <a:ea typeface="Trebuchet MS" pitchFamily="34" charset="-122"/>
                <a:cs typeface="Trebuchet MS" pitchFamily="34" charset="-120"/>
              </a:rPr>
              <a:t>Categorized forms with date and location tags.</a:t>
            </a:r>
            <a:endParaRPr lang="en-US" sz="1200" dirty="0"/>
          </a:p>
        </p:txBody>
      </p:sp>
      <p:sp>
        <p:nvSpPr>
          <p:cNvPr id="14" name="Text 10"/>
          <p:cNvSpPr/>
          <p:nvPr/>
        </p:nvSpPr>
        <p:spPr>
          <a:xfrm>
            <a:off x="609600" y="2498824"/>
            <a:ext cx="3873550" cy="1135261"/>
          </a:xfrm>
          <a:prstGeom prst="roundRect">
            <a:avLst>
              <a:gd name="adj" fmla="val 11187"/>
            </a:avLst>
          </a:prstGeom>
          <a:solidFill>
            <a:srgbClr val="162235"/>
          </a:solidFill>
          <a:ln/>
        </p:spPr>
        <p:txBody>
          <a:bodyPr wrap="square" rtlCol="0" anchor="ctr"/>
          <a:lstStyle/>
          <a:p>
            <a:pPr indent="0" marL="0">
              <a:buNone/>
            </a:pPr>
            <a:endParaRPr lang="en-US" dirty="0"/>
          </a:p>
        </p:txBody>
      </p:sp>
      <p:sp>
        <p:nvSpPr>
          <p:cNvPr id="15" name="Shape 11"/>
          <p:cNvSpPr/>
          <p:nvPr/>
        </p:nvSpPr>
        <p:spPr>
          <a:xfrm>
            <a:off x="633412" y="2498824"/>
            <a:ext cx="0" cy="1135261"/>
          </a:xfrm>
          <a:prstGeom prst="line">
            <a:avLst/>
          </a:prstGeom>
          <a:noFill/>
          <a:ln w="47625">
            <a:solidFill>
              <a:srgbClr val="44D1E4"/>
            </a:solidFill>
            <a:prstDash val="solid"/>
          </a:ln>
        </p:spPr>
      </p:sp>
      <p:pic>
        <p:nvPicPr>
          <p:cNvPr id="16" name="Image 2" descr="/home/z/my-project/download/crimeaware-ppt/assets/icon-dashboard.png">    </p:cNvPr>
          <p:cNvPicPr>
            <a:picLocks noChangeAspect="1"/>
          </p:cNvPicPr>
          <p:nvPr/>
        </p:nvPicPr>
        <p:blipFill>
          <a:blip r:embed="rId3"/>
          <a:stretch>
            <a:fillRect/>
          </a:stretch>
        </p:blipFill>
        <p:spPr>
          <a:xfrm>
            <a:off x="885825" y="2727424"/>
            <a:ext cx="381000" cy="381000"/>
          </a:xfrm>
          <a:prstGeom prst="rect">
            <a:avLst/>
          </a:prstGeom>
        </p:spPr>
      </p:pic>
      <p:sp>
        <p:nvSpPr>
          <p:cNvPr id="17" name="Text 12"/>
          <p:cNvSpPr/>
          <p:nvPr/>
        </p:nvSpPr>
        <p:spPr>
          <a:xfrm>
            <a:off x="1393775" y="2785914"/>
            <a:ext cx="1889945" cy="285143"/>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Trebuchet MS" pitchFamily="34" charset="0"/>
                <a:ea typeface="Trebuchet MS" pitchFamily="34" charset="-122"/>
                <a:cs typeface="Trebuchet MS" pitchFamily="34" charset="-120"/>
              </a:rPr>
              <a:t>Live Dashboard</a:t>
            </a:r>
            <a:endParaRPr lang="en-US" sz="1600" dirty="0"/>
          </a:p>
        </p:txBody>
      </p:sp>
      <p:sp>
        <p:nvSpPr>
          <p:cNvPr id="18" name="Text 13"/>
          <p:cNvSpPr/>
          <p:nvPr/>
        </p:nvSpPr>
        <p:spPr>
          <a:xfrm>
            <a:off x="885825" y="3184624"/>
            <a:ext cx="3705597" cy="238530"/>
          </a:xfrm>
          <a:prstGeom prst="rect">
            <a:avLst/>
          </a:prstGeom>
          <a:noFill/>
          <a:ln/>
        </p:spPr>
        <p:txBody>
          <a:bodyPr wrap="square" lIns="0" tIns="0" rIns="0" bIns="0" rtlCol="0" anchor="t"/>
          <a:lstStyle/>
          <a:p>
            <a:pPr algn="l" indent="0" marL="0">
              <a:lnSpc>
                <a:spcPts val="1740"/>
              </a:lnSpc>
              <a:buNone/>
            </a:pPr>
            <a:r>
              <a:rPr lang="en-US" sz="1200" dirty="0">
                <a:solidFill>
                  <a:srgbClr val="FFFFFF">
                    <a:alpha val="65000"/>
                  </a:srgbClr>
                </a:solidFill>
                <a:latin typeface="Trebuchet MS" pitchFamily="34" charset="0"/>
                <a:ea typeface="Trebuchet MS" pitchFamily="34" charset="-122"/>
                <a:cs typeface="Trebuchet MS" pitchFamily="34" charset="-120"/>
              </a:rPr>
              <a:t>Dynamic visualization of crimes by category.</a:t>
            </a:r>
            <a:endParaRPr lang="en-US" sz="1200" dirty="0"/>
          </a:p>
        </p:txBody>
      </p:sp>
      <p:sp>
        <p:nvSpPr>
          <p:cNvPr id="19" name="Text 14"/>
          <p:cNvSpPr/>
          <p:nvPr/>
        </p:nvSpPr>
        <p:spPr>
          <a:xfrm>
            <a:off x="4660850" y="2498824"/>
            <a:ext cx="3873550" cy="1135261"/>
          </a:xfrm>
          <a:prstGeom prst="roundRect">
            <a:avLst>
              <a:gd name="adj" fmla="val 11187"/>
            </a:avLst>
          </a:prstGeom>
          <a:solidFill>
            <a:srgbClr val="162235"/>
          </a:solidFill>
          <a:ln/>
        </p:spPr>
        <p:txBody>
          <a:bodyPr wrap="square" rtlCol="0" anchor="ctr"/>
          <a:lstStyle/>
          <a:p>
            <a:pPr indent="0" marL="0">
              <a:buNone/>
            </a:pPr>
            <a:endParaRPr lang="en-US" dirty="0"/>
          </a:p>
        </p:txBody>
      </p:sp>
      <p:sp>
        <p:nvSpPr>
          <p:cNvPr id="20" name="Shape 15"/>
          <p:cNvSpPr/>
          <p:nvPr/>
        </p:nvSpPr>
        <p:spPr>
          <a:xfrm>
            <a:off x="4684663" y="2498824"/>
            <a:ext cx="0" cy="1135261"/>
          </a:xfrm>
          <a:prstGeom prst="line">
            <a:avLst/>
          </a:prstGeom>
          <a:noFill/>
          <a:ln w="47625">
            <a:solidFill>
              <a:srgbClr val="EDCD82"/>
            </a:solidFill>
            <a:prstDash val="solid"/>
          </a:ln>
        </p:spPr>
      </p:sp>
      <p:pic>
        <p:nvPicPr>
          <p:cNvPr id="21" name="Image 3" descr="/home/z/my-project/download/crimeaware-ppt/assets/icon-settings.png">    </p:cNvPr>
          <p:cNvPicPr>
            <a:picLocks noChangeAspect="1"/>
          </p:cNvPicPr>
          <p:nvPr/>
        </p:nvPicPr>
        <p:blipFill>
          <a:blip r:embed="rId4"/>
          <a:stretch>
            <a:fillRect/>
          </a:stretch>
        </p:blipFill>
        <p:spPr>
          <a:xfrm>
            <a:off x="4937075" y="2727424"/>
            <a:ext cx="381000" cy="381000"/>
          </a:xfrm>
          <a:prstGeom prst="rect">
            <a:avLst/>
          </a:prstGeom>
        </p:spPr>
      </p:pic>
      <p:sp>
        <p:nvSpPr>
          <p:cNvPr id="22" name="Text 16"/>
          <p:cNvSpPr/>
          <p:nvPr/>
        </p:nvSpPr>
        <p:spPr>
          <a:xfrm>
            <a:off x="5445026" y="2785914"/>
            <a:ext cx="1749135" cy="285143"/>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Trebuchet MS" pitchFamily="34" charset="0"/>
                <a:ea typeface="Trebuchet MS" pitchFamily="34" charset="-122"/>
                <a:cs typeface="Trebuchet MS" pitchFamily="34" charset="-120"/>
              </a:rPr>
              <a:t>Admin Control</a:t>
            </a:r>
            <a:endParaRPr lang="en-US" sz="1600" dirty="0"/>
          </a:p>
        </p:txBody>
      </p:sp>
      <p:sp>
        <p:nvSpPr>
          <p:cNvPr id="23" name="Text 17"/>
          <p:cNvSpPr/>
          <p:nvPr/>
        </p:nvSpPr>
        <p:spPr>
          <a:xfrm>
            <a:off x="4937075" y="3184624"/>
            <a:ext cx="3705597" cy="238530"/>
          </a:xfrm>
          <a:prstGeom prst="rect">
            <a:avLst/>
          </a:prstGeom>
          <a:noFill/>
          <a:ln/>
        </p:spPr>
        <p:txBody>
          <a:bodyPr wrap="square" lIns="0" tIns="0" rIns="0" bIns="0" rtlCol="0" anchor="t"/>
          <a:lstStyle/>
          <a:p>
            <a:pPr algn="l" indent="0" marL="0">
              <a:lnSpc>
                <a:spcPts val="1740"/>
              </a:lnSpc>
              <a:buNone/>
            </a:pPr>
            <a:r>
              <a:rPr lang="en-US" sz="1200" dirty="0">
                <a:solidFill>
                  <a:srgbClr val="FFFFFF">
                    <a:alpha val="65000"/>
                  </a:srgbClr>
                </a:solidFill>
                <a:latin typeface="Trebuchet MS" pitchFamily="34" charset="0"/>
                <a:ea typeface="Trebuchet MS" pitchFamily="34" charset="-122"/>
                <a:cs typeface="Trebuchet MS" pitchFamily="34" charset="-120"/>
              </a:rPr>
              <a:t>Status management for full accountability chain.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525"/>
        </a:solidFill>
      </p:bgPr>
    </p:bg>
    <p:spTree>
      <p:nvGrpSpPr>
        <p:cNvPr id="1" name=""/>
        <p:cNvGrpSpPr/>
        <p:nvPr/>
      </p:nvGrpSpPr>
      <p:grpSpPr>
        <a:xfrm>
          <a:off x="0" y="0"/>
          <a:ext cx="0" cy="0"/>
          <a:chOff x="0" y="0"/>
          <a:chExt cx="0" cy="0"/>
        </a:xfrm>
      </p:grpSpPr>
      <p:sp>
        <p:nvSpPr>
          <p:cNvPr id="2" name="Text 0"/>
          <p:cNvSpPr/>
          <p:nvPr/>
        </p:nvSpPr>
        <p:spPr>
          <a:xfrm>
            <a:off x="0" y="0"/>
            <a:ext cx="9144000" cy="50750"/>
          </a:xfrm>
          <a:prstGeom prst="rect">
            <a:avLst/>
          </a:prstGeom>
          <a:solidFill>
            <a:srgbClr val="44D1E4"/>
          </a:solidFill>
          <a:ln/>
        </p:spPr>
        <p:txBody>
          <a:bodyPr wrap="square" rtlCol="0" anchor="ctr"/>
          <a:lstStyle/>
          <a:p>
            <a:pPr indent="0" marL="0">
              <a:buNone/>
            </a:pPr>
            <a:endParaRPr lang="en-US" dirty="0"/>
          </a:p>
        </p:txBody>
      </p:sp>
      <p:sp>
        <p:nvSpPr>
          <p:cNvPr id="3" name="Text 1"/>
          <p:cNvSpPr/>
          <p:nvPr/>
        </p:nvSpPr>
        <p:spPr>
          <a:xfrm>
            <a:off x="609600" y="304651"/>
            <a:ext cx="3292557" cy="390906"/>
          </a:xfrm>
          <a:prstGeom prst="rect">
            <a:avLst/>
          </a:prstGeom>
          <a:noFill/>
          <a:ln/>
        </p:spPr>
        <p:txBody>
          <a:bodyPr wrap="none" lIns="0" tIns="0" rIns="0" bIns="0" rtlCol="0" anchor="t"/>
          <a:lstStyle/>
          <a:p>
            <a:pPr algn="l" indent="0" marL="0">
              <a:buNone/>
            </a:pPr>
            <a:r>
              <a:rPr lang="en-US" sz="2600" b="1" dirty="0">
                <a:solidFill>
                  <a:srgbClr val="FFFFFF"/>
                </a:solidFill>
                <a:latin typeface="Trebuchet MS" pitchFamily="34" charset="0"/>
                <a:ea typeface="Trebuchet MS" pitchFamily="34" charset="-122"/>
                <a:cs typeface="Trebuchet MS" pitchFamily="34" charset="-120"/>
              </a:rPr>
              <a:t>Under the Hood</a:t>
            </a:r>
            <a:endParaRPr lang="en-US" sz="2600" dirty="0"/>
          </a:p>
        </p:txBody>
      </p:sp>
      <p:sp>
        <p:nvSpPr>
          <p:cNvPr id="4" name="Text 2"/>
          <p:cNvSpPr/>
          <p:nvPr/>
        </p:nvSpPr>
        <p:spPr>
          <a:xfrm>
            <a:off x="609600" y="752326"/>
            <a:ext cx="507950" cy="38100"/>
          </a:xfrm>
          <a:prstGeom prst="rect">
            <a:avLst/>
          </a:prstGeom>
          <a:solidFill>
            <a:srgbClr val="EDCD82"/>
          </a:solidFill>
          <a:ln/>
        </p:spPr>
        <p:txBody>
          <a:bodyPr wrap="square" rtlCol="0" anchor="ctr"/>
          <a:lstStyle/>
          <a:p>
            <a:pPr indent="0" marL="0">
              <a:buNone/>
            </a:pPr>
            <a:endParaRPr lang="en-US" dirty="0"/>
          </a:p>
        </p:txBody>
      </p:sp>
      <p:sp>
        <p:nvSpPr>
          <p:cNvPr id="5" name="Text 3"/>
          <p:cNvSpPr/>
          <p:nvPr/>
        </p:nvSpPr>
        <p:spPr>
          <a:xfrm>
            <a:off x="609600" y="993577"/>
            <a:ext cx="7924800" cy="882551"/>
          </a:xfrm>
          <a:prstGeom prst="roundRect">
            <a:avLst>
              <a:gd name="adj" fmla="val 11512"/>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6" name="Text 4"/>
          <p:cNvSpPr/>
          <p:nvPr/>
        </p:nvSpPr>
        <p:spPr>
          <a:xfrm>
            <a:off x="847725" y="1155502"/>
            <a:ext cx="558701" cy="558701"/>
          </a:xfrm>
          <a:prstGeom prst="roundRect">
            <a:avLst>
              <a:gd name="adj" fmla="val 18185"/>
            </a:avLst>
          </a:prstGeom>
          <a:solidFill>
            <a:srgbClr val="44D1E4"/>
          </a:solidFill>
          <a:ln/>
        </p:spPr>
        <p:txBody>
          <a:bodyPr wrap="square" rtlCol="0" anchor="ctr"/>
          <a:lstStyle/>
          <a:p>
            <a:pPr indent="0" marL="0">
              <a:buNone/>
            </a:pPr>
            <a:endParaRPr lang="en-US" dirty="0"/>
          </a:p>
        </p:txBody>
      </p:sp>
      <p:sp>
        <p:nvSpPr>
          <p:cNvPr id="7" name="Text 5"/>
          <p:cNvSpPr/>
          <p:nvPr/>
        </p:nvSpPr>
        <p:spPr>
          <a:xfrm>
            <a:off x="1044476" y="1334839"/>
            <a:ext cx="214759" cy="216027"/>
          </a:xfrm>
          <a:prstGeom prst="rect">
            <a:avLst/>
          </a:prstGeom>
          <a:noFill/>
          <a:ln/>
        </p:spPr>
        <p:txBody>
          <a:bodyPr wrap="square" lIns="0" tIns="0" rIns="0" bIns="0" rtlCol="0" anchor="t"/>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UI</a:t>
            </a:r>
            <a:endParaRPr lang="en-US" sz="1300" dirty="0"/>
          </a:p>
        </p:txBody>
      </p:sp>
      <p:sp>
        <p:nvSpPr>
          <p:cNvPr id="8" name="Text 6"/>
          <p:cNvSpPr/>
          <p:nvPr/>
        </p:nvSpPr>
        <p:spPr>
          <a:xfrm>
            <a:off x="1584127" y="1191667"/>
            <a:ext cx="7559873" cy="267462"/>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Trebuchet MS" pitchFamily="34" charset="0"/>
                <a:ea typeface="Trebuchet MS" pitchFamily="34" charset="-122"/>
                <a:cs typeface="Trebuchet MS" pitchFamily="34" charset="-120"/>
              </a:rPr>
              <a:t>Frontend</a:t>
            </a:r>
            <a:endParaRPr lang="en-US" sz="1500" dirty="0"/>
          </a:p>
        </p:txBody>
      </p:sp>
      <p:sp>
        <p:nvSpPr>
          <p:cNvPr id="9" name="Text 7"/>
          <p:cNvSpPr/>
          <p:nvPr/>
        </p:nvSpPr>
        <p:spPr>
          <a:xfrm>
            <a:off x="1584127" y="1464618"/>
            <a:ext cx="7383363" cy="230332"/>
          </a:xfrm>
          <a:prstGeom prst="rect">
            <a:avLst/>
          </a:prstGeom>
          <a:noFill/>
          <a:ln/>
        </p:spPr>
        <p:txBody>
          <a:bodyPr wrap="square" lIns="0" tIns="0" rIns="0" bIns="0" rtlCol="0" anchor="t"/>
          <a:lstStyle/>
          <a:p>
            <a:pPr algn="l" indent="0" marL="0">
              <a:lnSpc>
                <a:spcPts val="1680"/>
              </a:lnSpc>
              <a:spcBef>
                <a:spcPts val="200"/>
              </a:spcBef>
              <a:buNone/>
            </a:pPr>
            <a:r>
              <a:rPr lang="en-US" sz="1200" dirty="0">
                <a:solidFill>
                  <a:srgbClr val="FFFFFF">
                    <a:alpha val="60000"/>
                  </a:srgbClr>
                </a:solidFill>
                <a:latin typeface="Trebuchet MS" pitchFamily="34" charset="0"/>
                <a:ea typeface="Trebuchet MS" pitchFamily="34" charset="-122"/>
                <a:cs typeface="Trebuchet MS" pitchFamily="34" charset="-120"/>
              </a:rPr>
              <a:t>HTML5, CSS3, JS with Responsive Bootstrap UI</a:t>
            </a:r>
            <a:endParaRPr lang="en-US" sz="1200" dirty="0"/>
          </a:p>
        </p:txBody>
      </p:sp>
      <p:sp>
        <p:nvSpPr>
          <p:cNvPr id="10" name="Text 8"/>
          <p:cNvSpPr/>
          <p:nvPr/>
        </p:nvSpPr>
        <p:spPr>
          <a:xfrm>
            <a:off x="609600" y="2003078"/>
            <a:ext cx="7924800" cy="882551"/>
          </a:xfrm>
          <a:prstGeom prst="roundRect">
            <a:avLst>
              <a:gd name="adj" fmla="val 11512"/>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11" name="Text 9"/>
          <p:cNvSpPr/>
          <p:nvPr/>
        </p:nvSpPr>
        <p:spPr>
          <a:xfrm>
            <a:off x="847725" y="2165003"/>
            <a:ext cx="558701" cy="558701"/>
          </a:xfrm>
          <a:prstGeom prst="roundRect">
            <a:avLst>
              <a:gd name="adj" fmla="val 18185"/>
            </a:avLst>
          </a:prstGeom>
          <a:solidFill>
            <a:srgbClr val="44D1E4"/>
          </a:solidFill>
          <a:ln/>
        </p:spPr>
        <p:txBody>
          <a:bodyPr wrap="square" rtlCol="0" anchor="ctr"/>
          <a:lstStyle/>
          <a:p>
            <a:pPr indent="0" marL="0">
              <a:buNone/>
            </a:pPr>
            <a:endParaRPr lang="en-US" dirty="0"/>
          </a:p>
        </p:txBody>
      </p:sp>
      <p:sp>
        <p:nvSpPr>
          <p:cNvPr id="12" name="Text 10"/>
          <p:cNvSpPr/>
          <p:nvPr/>
        </p:nvSpPr>
        <p:spPr>
          <a:xfrm>
            <a:off x="989409" y="2344341"/>
            <a:ext cx="357738" cy="216027"/>
          </a:xfrm>
          <a:prstGeom prst="rect">
            <a:avLst/>
          </a:prstGeom>
          <a:noFill/>
          <a:ln/>
        </p:spPr>
        <p:txBody>
          <a:bodyPr wrap="square" lIns="0" tIns="0" rIns="0" bIns="0" rtlCol="0" anchor="t"/>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API</a:t>
            </a:r>
            <a:endParaRPr lang="en-US" sz="1300" dirty="0"/>
          </a:p>
        </p:txBody>
      </p:sp>
      <p:sp>
        <p:nvSpPr>
          <p:cNvPr id="13" name="Text 11"/>
          <p:cNvSpPr/>
          <p:nvPr/>
        </p:nvSpPr>
        <p:spPr>
          <a:xfrm>
            <a:off x="1584127" y="2201168"/>
            <a:ext cx="7559873" cy="267462"/>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Trebuchet MS" pitchFamily="34" charset="0"/>
                <a:ea typeface="Trebuchet MS" pitchFamily="34" charset="-122"/>
                <a:cs typeface="Trebuchet MS" pitchFamily="34" charset="-120"/>
              </a:rPr>
              <a:t>Backend</a:t>
            </a:r>
            <a:endParaRPr lang="en-US" sz="1500" dirty="0"/>
          </a:p>
        </p:txBody>
      </p:sp>
      <p:sp>
        <p:nvSpPr>
          <p:cNvPr id="14" name="Text 12"/>
          <p:cNvSpPr/>
          <p:nvPr/>
        </p:nvSpPr>
        <p:spPr>
          <a:xfrm>
            <a:off x="1584127" y="2474119"/>
            <a:ext cx="7383363" cy="230332"/>
          </a:xfrm>
          <a:prstGeom prst="rect">
            <a:avLst/>
          </a:prstGeom>
          <a:noFill/>
          <a:ln/>
        </p:spPr>
        <p:txBody>
          <a:bodyPr wrap="square" lIns="0" tIns="0" rIns="0" bIns="0" rtlCol="0" anchor="t"/>
          <a:lstStyle/>
          <a:p>
            <a:pPr algn="l" indent="0" marL="0">
              <a:lnSpc>
                <a:spcPts val="1680"/>
              </a:lnSpc>
              <a:spcBef>
                <a:spcPts val="200"/>
              </a:spcBef>
              <a:buNone/>
            </a:pPr>
            <a:r>
              <a:rPr lang="en-US" sz="1200" dirty="0">
                <a:solidFill>
                  <a:srgbClr val="FFFFFF">
                    <a:alpha val="60000"/>
                  </a:srgbClr>
                </a:solidFill>
                <a:latin typeface="Trebuchet MS" pitchFamily="34" charset="0"/>
                <a:ea typeface="Trebuchet MS" pitchFamily="34" charset="-122"/>
                <a:cs typeface="Trebuchet MS" pitchFamily="34" charset="-120"/>
              </a:rPr>
              <a:t>Flask (Python) - Lightweight and Fast</a:t>
            </a:r>
            <a:endParaRPr lang="en-US" sz="1200" dirty="0"/>
          </a:p>
        </p:txBody>
      </p:sp>
      <p:sp>
        <p:nvSpPr>
          <p:cNvPr id="15" name="Text 13"/>
          <p:cNvSpPr/>
          <p:nvPr/>
        </p:nvSpPr>
        <p:spPr>
          <a:xfrm>
            <a:off x="609600" y="3012579"/>
            <a:ext cx="7924800" cy="882551"/>
          </a:xfrm>
          <a:prstGeom prst="roundRect">
            <a:avLst>
              <a:gd name="adj" fmla="val 11512"/>
            </a:avLst>
          </a:prstGeom>
          <a:solidFill>
            <a:srgbClr val="FFFFFF">
              <a:alpha val="5000"/>
            </a:srgbClr>
          </a:solidFill>
          <a:ln w="9525">
            <a:solidFill>
              <a:srgbClr val="FFFFFF"/>
            </a:solidFill>
          </a:ln>
        </p:spPr>
        <p:txBody>
          <a:bodyPr wrap="square" rtlCol="0" anchor="ctr"/>
          <a:lstStyle/>
          <a:p>
            <a:pPr indent="0" marL="0">
              <a:buNone/>
            </a:pPr>
            <a:endParaRPr lang="en-US" dirty="0"/>
          </a:p>
        </p:txBody>
      </p:sp>
      <p:sp>
        <p:nvSpPr>
          <p:cNvPr id="16" name="Text 14"/>
          <p:cNvSpPr/>
          <p:nvPr/>
        </p:nvSpPr>
        <p:spPr>
          <a:xfrm>
            <a:off x="847725" y="3174504"/>
            <a:ext cx="558701" cy="558701"/>
          </a:xfrm>
          <a:prstGeom prst="roundRect">
            <a:avLst>
              <a:gd name="adj" fmla="val 18185"/>
            </a:avLst>
          </a:prstGeom>
          <a:solidFill>
            <a:srgbClr val="EDCD82"/>
          </a:solidFill>
          <a:ln/>
        </p:spPr>
        <p:txBody>
          <a:bodyPr wrap="square" rtlCol="0" anchor="ctr"/>
          <a:lstStyle/>
          <a:p>
            <a:pPr indent="0" marL="0">
              <a:buNone/>
            </a:pPr>
            <a:endParaRPr lang="en-US" dirty="0"/>
          </a:p>
        </p:txBody>
      </p:sp>
      <p:sp>
        <p:nvSpPr>
          <p:cNvPr id="17" name="Text 15"/>
          <p:cNvSpPr/>
          <p:nvPr/>
        </p:nvSpPr>
        <p:spPr>
          <a:xfrm>
            <a:off x="1007864" y="3353842"/>
            <a:ext cx="309949" cy="216027"/>
          </a:xfrm>
          <a:prstGeom prst="rect">
            <a:avLst/>
          </a:prstGeom>
          <a:noFill/>
          <a:ln/>
        </p:spPr>
        <p:txBody>
          <a:bodyPr wrap="square" lIns="0" tIns="0" rIns="0" bIns="0" rtlCol="0" anchor="t"/>
          <a:lstStyle/>
          <a:p>
            <a:pPr algn="l" indent="0" marL="0">
              <a:buNone/>
            </a:pPr>
            <a:r>
              <a:rPr lang="en-US" sz="1300" b="1" dirty="0">
                <a:solidFill>
                  <a:srgbClr val="0D1525"/>
                </a:solidFill>
                <a:latin typeface="Trebuchet MS" pitchFamily="34" charset="0"/>
                <a:ea typeface="Trebuchet MS" pitchFamily="34" charset="-122"/>
                <a:cs typeface="Trebuchet MS" pitchFamily="34" charset="-120"/>
              </a:rPr>
              <a:t>DB</a:t>
            </a:r>
            <a:endParaRPr lang="en-US" sz="1300" dirty="0"/>
          </a:p>
        </p:txBody>
      </p:sp>
      <p:sp>
        <p:nvSpPr>
          <p:cNvPr id="18" name="Text 16"/>
          <p:cNvSpPr/>
          <p:nvPr/>
        </p:nvSpPr>
        <p:spPr>
          <a:xfrm>
            <a:off x="1584127" y="3210669"/>
            <a:ext cx="7559873" cy="267462"/>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Trebuchet MS" pitchFamily="34" charset="0"/>
                <a:ea typeface="Trebuchet MS" pitchFamily="34" charset="-122"/>
                <a:cs typeface="Trebuchet MS" pitchFamily="34" charset="-120"/>
              </a:rPr>
              <a:t>Database</a:t>
            </a:r>
            <a:endParaRPr lang="en-US" sz="1500" dirty="0"/>
          </a:p>
        </p:txBody>
      </p:sp>
      <p:sp>
        <p:nvSpPr>
          <p:cNvPr id="19" name="Text 17"/>
          <p:cNvSpPr/>
          <p:nvPr/>
        </p:nvSpPr>
        <p:spPr>
          <a:xfrm>
            <a:off x="1584127" y="3483620"/>
            <a:ext cx="7383363" cy="230332"/>
          </a:xfrm>
          <a:prstGeom prst="rect">
            <a:avLst/>
          </a:prstGeom>
          <a:noFill/>
          <a:ln/>
        </p:spPr>
        <p:txBody>
          <a:bodyPr wrap="square" lIns="0" tIns="0" rIns="0" bIns="0" rtlCol="0" anchor="t"/>
          <a:lstStyle/>
          <a:p>
            <a:pPr algn="l" indent="0" marL="0">
              <a:lnSpc>
                <a:spcPts val="1680"/>
              </a:lnSpc>
              <a:spcBef>
                <a:spcPts val="200"/>
              </a:spcBef>
              <a:buNone/>
            </a:pPr>
            <a:r>
              <a:rPr lang="en-US" sz="1200" dirty="0">
                <a:solidFill>
                  <a:srgbClr val="FFFFFF">
                    <a:alpha val="60000"/>
                  </a:srgbClr>
                </a:solidFill>
                <a:latin typeface="Trebuchet MS" pitchFamily="34" charset="0"/>
                <a:ea typeface="Trebuchet MS" pitchFamily="34" charset="-122"/>
                <a:cs typeface="Trebuchet MS" pitchFamily="34" charset="-120"/>
              </a:rPr>
              <a:t>SQLite - Zero-config for hackathon MVPs</a:t>
            </a:r>
            <a:endParaRPr lang="en-US" sz="1200" dirty="0"/>
          </a:p>
        </p:txBody>
      </p:sp>
      <p:sp>
        <p:nvSpPr>
          <p:cNvPr id="20" name="Text 18"/>
          <p:cNvSpPr/>
          <p:nvPr/>
        </p:nvSpPr>
        <p:spPr>
          <a:xfrm>
            <a:off x="609600" y="4022080"/>
            <a:ext cx="7924800" cy="487412"/>
          </a:xfrm>
          <a:prstGeom prst="roundRect">
            <a:avLst>
              <a:gd name="adj" fmla="val 20845"/>
            </a:avLst>
          </a:prstGeom>
          <a:solidFill>
            <a:srgbClr val="44D1E4">
              <a:alpha val="8000"/>
            </a:srgbClr>
          </a:solidFill>
          <a:ln w="9525">
            <a:solidFill>
              <a:srgbClr val="44D1E4"/>
            </a:solidFill>
          </a:ln>
        </p:spPr>
        <p:txBody>
          <a:bodyPr wrap="square" rtlCol="0" anchor="ctr"/>
          <a:lstStyle/>
          <a:p>
            <a:pPr indent="0" marL="0">
              <a:buNone/>
            </a:pPr>
            <a:endParaRPr lang="en-US" dirty="0"/>
          </a:p>
        </p:txBody>
      </p:sp>
      <p:sp>
        <p:nvSpPr>
          <p:cNvPr id="21" name="Text 19"/>
          <p:cNvSpPr/>
          <p:nvPr/>
        </p:nvSpPr>
        <p:spPr>
          <a:xfrm>
            <a:off x="582670" y="4158555"/>
            <a:ext cx="5831220" cy="231618"/>
          </a:xfrm>
          <a:prstGeom prst="rect">
            <a:avLst/>
          </a:prstGeom>
          <a:noFill/>
          <a:ln/>
        </p:spPr>
        <p:txBody>
          <a:bodyPr wrap="square" lIns="0" tIns="0" rIns="0" bIns="0" rtlCol="0" anchor="t"/>
          <a:lstStyle/>
          <a:p>
            <a:pPr algn="ctr" indent="0" marL="0">
              <a:lnSpc>
                <a:spcPts val="1690"/>
              </a:lnSpc>
              <a:buNone/>
            </a:pPr>
            <a:r>
              <a:rPr lang="en-US" sz="1300" b="1" dirty="0">
                <a:solidFill>
                  <a:srgbClr val="44D1E4"/>
                </a:solidFill>
                <a:latin typeface="Trebuchet MS" pitchFamily="34" charset="0"/>
                <a:ea typeface="Trebuchet MS" pitchFamily="34" charset="-122"/>
                <a:cs typeface="Trebuchet MS" pitchFamily="34" charset="-120"/>
              </a:rPr>
              <a:t>Interface → Flask Routes → CRUD → SQLite → Dynamic Rendering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235"/>
        </a:solidFill>
      </p:bgPr>
    </p:bg>
    <p:spTree>
      <p:nvGrpSpPr>
        <p:cNvPr id="1" name=""/>
        <p:cNvGrpSpPr/>
        <p:nvPr/>
      </p:nvGrpSpPr>
      <p:grpSpPr>
        <a:xfrm>
          <a:off x="0" y="0"/>
          <a:ext cx="0" cy="0"/>
          <a:chOff x="0" y="0"/>
          <a:chExt cx="0" cy="0"/>
        </a:xfrm>
      </p:grpSpPr>
      <p:sp>
        <p:nvSpPr>
          <p:cNvPr id="2" name="Text 0"/>
          <p:cNvSpPr/>
          <p:nvPr/>
        </p:nvSpPr>
        <p:spPr>
          <a:xfrm>
            <a:off x="0" y="0"/>
            <a:ext cx="9144000" cy="711101"/>
          </a:xfrm>
          <a:prstGeom prst="rect">
            <a:avLst/>
          </a:prstGeom>
          <a:solidFill>
            <a:srgbClr val="122040"/>
          </a:solidFill>
          <a:ln/>
        </p:spPr>
        <p:txBody>
          <a:bodyPr wrap="square" rtlCol="0" anchor="ctr"/>
          <a:lstStyle/>
          <a:p>
            <a:pPr indent="0" marL="0">
              <a:buNone/>
            </a:pPr>
            <a:endParaRPr lang="en-US" dirty="0"/>
          </a:p>
        </p:txBody>
      </p:sp>
      <p:sp>
        <p:nvSpPr>
          <p:cNvPr id="3" name="Text 1"/>
          <p:cNvSpPr/>
          <p:nvPr/>
        </p:nvSpPr>
        <p:spPr>
          <a:xfrm>
            <a:off x="609600" y="180975"/>
            <a:ext cx="2910706" cy="377083"/>
          </a:xfrm>
          <a:prstGeom prst="rect">
            <a:avLst/>
          </a:prstGeom>
          <a:noFill/>
          <a:ln/>
        </p:spPr>
        <p:txBody>
          <a:bodyPr wrap="square" lIns="0" tIns="0" rIns="0" bIns="0" rtlCol="0" anchor="t"/>
          <a:lstStyle/>
          <a:p>
            <a:pPr algn="l" indent="0" marL="0">
              <a:lnSpc>
                <a:spcPts val="2750"/>
              </a:lnSpc>
              <a:buNone/>
            </a:pPr>
            <a:r>
              <a:rPr lang="en-US" sz="2200" b="1" dirty="0">
                <a:solidFill>
                  <a:srgbClr val="FFFFFF"/>
                </a:solidFill>
                <a:latin typeface="Trebuchet MS" pitchFamily="34" charset="0"/>
                <a:ea typeface="Trebuchet MS" pitchFamily="34" charset="-122"/>
                <a:cs typeface="Trebuchet MS" pitchFamily="34" charset="-120"/>
              </a:rPr>
              <a:t>The Data Pipeline</a:t>
            </a:r>
            <a:endParaRPr lang="en-US" sz="2200" dirty="0"/>
          </a:p>
        </p:txBody>
      </p:sp>
      <p:sp>
        <p:nvSpPr>
          <p:cNvPr id="4" name="Text 2"/>
          <p:cNvSpPr/>
          <p:nvPr/>
        </p:nvSpPr>
        <p:spPr>
          <a:xfrm>
            <a:off x="736997" y="1936700"/>
            <a:ext cx="1371600" cy="1777901"/>
          </a:xfrm>
          <a:prstGeom prst="roundRect">
            <a:avLst>
              <a:gd name="adj" fmla="val 7407"/>
            </a:avLst>
          </a:prstGeom>
          <a:solidFill>
            <a:srgbClr val="0D1525"/>
          </a:solidFill>
          <a:ln w="9525">
            <a:solidFill>
              <a:srgbClr val="2A3F5F"/>
            </a:solidFill>
          </a:ln>
        </p:spPr>
        <p:txBody>
          <a:bodyPr wrap="square" rtlCol="0" anchor="ctr"/>
          <a:lstStyle/>
          <a:p>
            <a:pPr indent="0" marL="0">
              <a:buNone/>
            </a:pPr>
            <a:endParaRPr lang="en-US" dirty="0"/>
          </a:p>
        </p:txBody>
      </p:sp>
      <p:sp>
        <p:nvSpPr>
          <p:cNvPr id="5" name="Text 3"/>
          <p:cNvSpPr/>
          <p:nvPr/>
        </p:nvSpPr>
        <p:spPr>
          <a:xfrm>
            <a:off x="1244947" y="2414290"/>
            <a:ext cx="355550" cy="355550"/>
          </a:xfrm>
          <a:prstGeom prst="roundRect">
            <a:avLst>
              <a:gd name="adj" fmla="val 257179"/>
            </a:avLst>
          </a:prstGeom>
          <a:solidFill>
            <a:srgbClr val="44D1E4"/>
          </a:solidFill>
          <a:ln/>
        </p:spPr>
        <p:txBody>
          <a:bodyPr wrap="square" rtlCol="0" anchor="ctr"/>
          <a:lstStyle/>
          <a:p>
            <a:pPr indent="0" marL="0">
              <a:buNone/>
            </a:pPr>
            <a:endParaRPr lang="en-US" dirty="0"/>
          </a:p>
        </p:txBody>
      </p:sp>
      <p:sp>
        <p:nvSpPr>
          <p:cNvPr id="6" name="Text 4"/>
          <p:cNvSpPr/>
          <p:nvPr/>
        </p:nvSpPr>
        <p:spPr>
          <a:xfrm>
            <a:off x="1373237" y="2487216"/>
            <a:ext cx="136580" cy="226314"/>
          </a:xfrm>
          <a:prstGeom prst="rect">
            <a:avLst/>
          </a:prstGeom>
          <a:noFill/>
          <a:ln/>
        </p:spPr>
        <p:txBody>
          <a:bodyPr wrap="square" lIns="0" tIns="0" rIns="0" bIns="0" rtlCol="0" anchor="t"/>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802922" y="2846040"/>
            <a:ext cx="1239601" cy="213777"/>
          </a:xfrm>
          <a:prstGeom prst="rect">
            <a:avLst/>
          </a:prstGeom>
          <a:noFill/>
          <a:ln/>
        </p:spPr>
        <p:txBody>
          <a:bodyPr wrap="square" lIns="0" tIns="0" rIns="0" bIns="0" rtlCol="0" anchor="t"/>
          <a:lstStyle/>
          <a:p>
            <a:pPr algn="ctr" indent="0" marL="0">
              <a:lnSpc>
                <a:spcPts val="1560"/>
              </a:lnSpc>
              <a:buNone/>
            </a:pPr>
            <a:r>
              <a:rPr lang="en-US" sz="1300" b="1" dirty="0">
                <a:solidFill>
                  <a:srgbClr val="FFFFFF"/>
                </a:solidFill>
                <a:latin typeface="Trebuchet MS" pitchFamily="34" charset="0"/>
                <a:ea typeface="Trebuchet MS" pitchFamily="34" charset="-122"/>
                <a:cs typeface="Trebuchet MS" pitchFamily="34" charset="-120"/>
              </a:rPr>
              <a:t>Authenticate</a:t>
            </a:r>
            <a:endParaRPr lang="en-US" sz="1300" dirty="0"/>
          </a:p>
        </p:txBody>
      </p:sp>
      <p:sp>
        <p:nvSpPr>
          <p:cNvPr id="8" name="Text 6"/>
          <p:cNvSpPr/>
          <p:nvPr/>
        </p:nvSpPr>
        <p:spPr>
          <a:xfrm>
            <a:off x="941516" y="3069282"/>
            <a:ext cx="962412" cy="180987"/>
          </a:xfrm>
          <a:prstGeom prst="rect">
            <a:avLst/>
          </a:prstGeom>
          <a:noFill/>
          <a:ln/>
        </p:spPr>
        <p:txBody>
          <a:bodyPr wrap="square" lIns="0" tIns="0" rIns="0" bIns="0" rtlCol="0" anchor="t"/>
          <a:lstStyle/>
          <a:p>
            <a:pPr algn="ctr" indent="0" marL="0">
              <a:lnSpc>
                <a:spcPts val="1320"/>
              </a:lnSpc>
              <a:spcBef>
                <a:spcPts val="200"/>
              </a:spcBef>
              <a:buNone/>
            </a:pPr>
            <a:r>
              <a:rPr lang="en-US" sz="1100" dirty="0">
                <a:solidFill>
                  <a:srgbClr val="FFFFFF">
                    <a:alpha val="50000"/>
                  </a:srgbClr>
                </a:solidFill>
                <a:latin typeface="Trebuchet MS" pitchFamily="34" charset="0"/>
                <a:ea typeface="Trebuchet MS" pitchFamily="34" charset="-122"/>
                <a:cs typeface="Trebuchet MS" pitchFamily="34" charset="-120"/>
              </a:rPr>
              <a:t>Secure login</a:t>
            </a:r>
            <a:endParaRPr lang="en-US" sz="1100" dirty="0"/>
          </a:p>
        </p:txBody>
      </p:sp>
      <p:sp>
        <p:nvSpPr>
          <p:cNvPr id="9" name="Shape 7"/>
          <p:cNvSpPr/>
          <p:nvPr/>
        </p:nvSpPr>
        <p:spPr>
          <a:xfrm>
            <a:off x="2171998" y="2801838"/>
            <a:ext cx="76200" cy="0"/>
          </a:xfrm>
          <a:prstGeom prst="line">
            <a:avLst/>
          </a:prstGeom>
          <a:noFill/>
          <a:ln w="47625">
            <a:solidFill>
              <a:srgbClr val="FFFFFF"/>
            </a:solidFill>
            <a:prstDash val="solid"/>
          </a:ln>
        </p:spPr>
      </p:sp>
      <p:sp>
        <p:nvSpPr>
          <p:cNvPr id="10" name="Shape 8"/>
          <p:cNvSpPr/>
          <p:nvPr/>
        </p:nvSpPr>
        <p:spPr>
          <a:xfrm>
            <a:off x="2171998" y="2849463"/>
            <a:ext cx="76200" cy="0"/>
          </a:xfrm>
          <a:prstGeom prst="line">
            <a:avLst/>
          </a:prstGeom>
          <a:noFill/>
          <a:ln w="47625">
            <a:solidFill>
              <a:srgbClr val="FFFFFF"/>
            </a:solidFill>
            <a:prstDash val="solid"/>
          </a:ln>
        </p:spPr>
      </p:sp>
      <p:sp>
        <p:nvSpPr>
          <p:cNvPr id="11" name="Shape 9"/>
          <p:cNvSpPr/>
          <p:nvPr/>
        </p:nvSpPr>
        <p:spPr>
          <a:xfrm>
            <a:off x="2210098" y="2778026"/>
            <a:ext cx="0" cy="95250"/>
          </a:xfrm>
          <a:prstGeom prst="line">
            <a:avLst/>
          </a:prstGeom>
          <a:noFill/>
          <a:ln w="76200">
            <a:solidFill>
              <a:srgbClr val="44D1E4"/>
            </a:solidFill>
            <a:prstDash val="solid"/>
          </a:ln>
        </p:spPr>
      </p:sp>
      <p:sp>
        <p:nvSpPr>
          <p:cNvPr id="12" name="Text 10"/>
          <p:cNvSpPr/>
          <p:nvPr/>
        </p:nvSpPr>
        <p:spPr>
          <a:xfrm>
            <a:off x="2311598" y="1936700"/>
            <a:ext cx="1371600" cy="1777901"/>
          </a:xfrm>
          <a:prstGeom prst="roundRect">
            <a:avLst>
              <a:gd name="adj" fmla="val 7407"/>
            </a:avLst>
          </a:prstGeom>
          <a:solidFill>
            <a:srgbClr val="0D1525"/>
          </a:solidFill>
          <a:ln w="9525">
            <a:solidFill>
              <a:srgbClr val="2A3F5F"/>
            </a:solidFill>
          </a:ln>
        </p:spPr>
        <p:txBody>
          <a:bodyPr wrap="square" rtlCol="0" anchor="ctr"/>
          <a:lstStyle/>
          <a:p>
            <a:pPr indent="0" marL="0">
              <a:buNone/>
            </a:pPr>
            <a:endParaRPr lang="en-US" dirty="0"/>
          </a:p>
        </p:txBody>
      </p:sp>
      <p:sp>
        <p:nvSpPr>
          <p:cNvPr id="13" name="Text 11"/>
          <p:cNvSpPr/>
          <p:nvPr/>
        </p:nvSpPr>
        <p:spPr>
          <a:xfrm>
            <a:off x="2819549" y="2414290"/>
            <a:ext cx="355550" cy="355550"/>
          </a:xfrm>
          <a:prstGeom prst="roundRect">
            <a:avLst>
              <a:gd name="adj" fmla="val 257179"/>
            </a:avLst>
          </a:prstGeom>
          <a:solidFill>
            <a:srgbClr val="44D1E4"/>
          </a:solidFill>
          <a:ln/>
        </p:spPr>
        <p:txBody>
          <a:bodyPr wrap="square" rtlCol="0" anchor="ctr"/>
          <a:lstStyle/>
          <a:p>
            <a:pPr indent="0" marL="0">
              <a:buNone/>
            </a:pPr>
            <a:endParaRPr lang="en-US" dirty="0"/>
          </a:p>
        </p:txBody>
      </p:sp>
      <p:sp>
        <p:nvSpPr>
          <p:cNvPr id="14" name="Text 12"/>
          <p:cNvSpPr/>
          <p:nvPr/>
        </p:nvSpPr>
        <p:spPr>
          <a:xfrm>
            <a:off x="2947839" y="2487216"/>
            <a:ext cx="136580" cy="226314"/>
          </a:xfrm>
          <a:prstGeom prst="rect">
            <a:avLst/>
          </a:prstGeom>
          <a:noFill/>
          <a:ln/>
        </p:spPr>
        <p:txBody>
          <a:bodyPr wrap="square" lIns="0" tIns="0" rIns="0" bIns="0" rtlCol="0" anchor="t"/>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5" name="Text 13"/>
          <p:cNvSpPr/>
          <p:nvPr/>
        </p:nvSpPr>
        <p:spPr>
          <a:xfrm>
            <a:off x="2651656" y="2846040"/>
            <a:ext cx="691485" cy="213777"/>
          </a:xfrm>
          <a:prstGeom prst="rect">
            <a:avLst/>
          </a:prstGeom>
          <a:noFill/>
          <a:ln/>
        </p:spPr>
        <p:txBody>
          <a:bodyPr wrap="square" lIns="0" tIns="0" rIns="0" bIns="0" rtlCol="0" anchor="t"/>
          <a:lstStyle/>
          <a:p>
            <a:pPr algn="ctr" indent="0" marL="0">
              <a:lnSpc>
                <a:spcPts val="1560"/>
              </a:lnSpc>
              <a:buNone/>
            </a:pPr>
            <a:r>
              <a:rPr lang="en-US" sz="1300" b="1" dirty="0">
                <a:solidFill>
                  <a:srgbClr val="FFFFFF"/>
                </a:solidFill>
                <a:latin typeface="Trebuchet MS" pitchFamily="34" charset="0"/>
                <a:ea typeface="Trebuchet MS" pitchFamily="34" charset="-122"/>
                <a:cs typeface="Trebuchet MS" pitchFamily="34" charset="-120"/>
              </a:rPr>
              <a:t>Report</a:t>
            </a:r>
            <a:endParaRPr lang="en-US" sz="1300" dirty="0"/>
          </a:p>
        </p:txBody>
      </p:sp>
      <p:sp>
        <p:nvSpPr>
          <p:cNvPr id="16" name="Text 14"/>
          <p:cNvSpPr/>
          <p:nvPr/>
        </p:nvSpPr>
        <p:spPr>
          <a:xfrm>
            <a:off x="2535478" y="3069282"/>
            <a:ext cx="923842" cy="180987"/>
          </a:xfrm>
          <a:prstGeom prst="rect">
            <a:avLst/>
          </a:prstGeom>
          <a:noFill/>
          <a:ln/>
        </p:spPr>
        <p:txBody>
          <a:bodyPr wrap="square" lIns="0" tIns="0" rIns="0" bIns="0" rtlCol="0" anchor="t"/>
          <a:lstStyle/>
          <a:p>
            <a:pPr algn="ctr" indent="0" marL="0">
              <a:lnSpc>
                <a:spcPts val="1320"/>
              </a:lnSpc>
              <a:spcBef>
                <a:spcPts val="200"/>
              </a:spcBef>
              <a:buNone/>
            </a:pPr>
            <a:r>
              <a:rPr lang="en-US" sz="1100" dirty="0">
                <a:solidFill>
                  <a:srgbClr val="FFFFFF">
                    <a:alpha val="50000"/>
                  </a:srgbClr>
                </a:solidFill>
                <a:latin typeface="Trebuchet MS" pitchFamily="34" charset="0"/>
                <a:ea typeface="Trebuchet MS" pitchFamily="34" charset="-122"/>
                <a:cs typeface="Trebuchet MS" pitchFamily="34" charset="-120"/>
              </a:rPr>
              <a:t>File incident</a:t>
            </a:r>
            <a:endParaRPr lang="en-US" sz="1100" dirty="0"/>
          </a:p>
        </p:txBody>
      </p:sp>
      <p:sp>
        <p:nvSpPr>
          <p:cNvPr id="17" name="Shape 15"/>
          <p:cNvSpPr/>
          <p:nvPr/>
        </p:nvSpPr>
        <p:spPr>
          <a:xfrm>
            <a:off x="3746599" y="2801838"/>
            <a:ext cx="76200" cy="0"/>
          </a:xfrm>
          <a:prstGeom prst="line">
            <a:avLst/>
          </a:prstGeom>
          <a:noFill/>
          <a:ln w="47625">
            <a:solidFill>
              <a:srgbClr val="FFFFFF"/>
            </a:solidFill>
            <a:prstDash val="solid"/>
          </a:ln>
        </p:spPr>
      </p:sp>
      <p:sp>
        <p:nvSpPr>
          <p:cNvPr id="18" name="Shape 16"/>
          <p:cNvSpPr/>
          <p:nvPr/>
        </p:nvSpPr>
        <p:spPr>
          <a:xfrm>
            <a:off x="3746599" y="2849463"/>
            <a:ext cx="76200" cy="0"/>
          </a:xfrm>
          <a:prstGeom prst="line">
            <a:avLst/>
          </a:prstGeom>
          <a:noFill/>
          <a:ln w="47625">
            <a:solidFill>
              <a:srgbClr val="FFFFFF"/>
            </a:solidFill>
            <a:prstDash val="solid"/>
          </a:ln>
        </p:spPr>
      </p:sp>
      <p:sp>
        <p:nvSpPr>
          <p:cNvPr id="19" name="Shape 17"/>
          <p:cNvSpPr/>
          <p:nvPr/>
        </p:nvSpPr>
        <p:spPr>
          <a:xfrm>
            <a:off x="3784699" y="2778026"/>
            <a:ext cx="0" cy="95250"/>
          </a:xfrm>
          <a:prstGeom prst="line">
            <a:avLst/>
          </a:prstGeom>
          <a:noFill/>
          <a:ln w="76200">
            <a:solidFill>
              <a:srgbClr val="44D1E4"/>
            </a:solidFill>
            <a:prstDash val="solid"/>
          </a:ln>
        </p:spPr>
      </p:sp>
      <p:sp>
        <p:nvSpPr>
          <p:cNvPr id="20" name="Text 18"/>
          <p:cNvSpPr/>
          <p:nvPr/>
        </p:nvSpPr>
        <p:spPr>
          <a:xfrm>
            <a:off x="3886200" y="1936700"/>
            <a:ext cx="1371600" cy="1777901"/>
          </a:xfrm>
          <a:prstGeom prst="roundRect">
            <a:avLst>
              <a:gd name="adj" fmla="val 7407"/>
            </a:avLst>
          </a:prstGeom>
          <a:solidFill>
            <a:srgbClr val="0D1525"/>
          </a:solidFill>
          <a:ln w="9525">
            <a:solidFill>
              <a:srgbClr val="2A3F5F"/>
            </a:solidFill>
          </a:ln>
        </p:spPr>
        <p:txBody>
          <a:bodyPr wrap="square" rtlCol="0" anchor="ctr"/>
          <a:lstStyle/>
          <a:p>
            <a:pPr indent="0" marL="0">
              <a:buNone/>
            </a:pPr>
            <a:endParaRPr lang="en-US" dirty="0"/>
          </a:p>
        </p:txBody>
      </p:sp>
      <p:sp>
        <p:nvSpPr>
          <p:cNvPr id="21" name="Text 19"/>
          <p:cNvSpPr/>
          <p:nvPr/>
        </p:nvSpPr>
        <p:spPr>
          <a:xfrm>
            <a:off x="4394150" y="2414290"/>
            <a:ext cx="355550" cy="355550"/>
          </a:xfrm>
          <a:prstGeom prst="roundRect">
            <a:avLst>
              <a:gd name="adj" fmla="val 257179"/>
            </a:avLst>
          </a:prstGeom>
          <a:solidFill>
            <a:srgbClr val="EDCD82"/>
          </a:solidFill>
          <a:ln/>
        </p:spPr>
        <p:txBody>
          <a:bodyPr wrap="square" rtlCol="0" anchor="ctr"/>
          <a:lstStyle/>
          <a:p>
            <a:pPr indent="0" marL="0">
              <a:buNone/>
            </a:pPr>
            <a:endParaRPr lang="en-US" dirty="0"/>
          </a:p>
        </p:txBody>
      </p:sp>
      <p:sp>
        <p:nvSpPr>
          <p:cNvPr id="22" name="Text 20"/>
          <p:cNvSpPr/>
          <p:nvPr/>
        </p:nvSpPr>
        <p:spPr>
          <a:xfrm>
            <a:off x="4522440" y="2487216"/>
            <a:ext cx="136580" cy="226314"/>
          </a:xfrm>
          <a:prstGeom prst="rect">
            <a:avLst/>
          </a:prstGeom>
          <a:noFill/>
          <a:ln/>
        </p:spPr>
        <p:txBody>
          <a:bodyPr wrap="square" lIns="0" tIns="0" rIns="0" bIns="0" rtlCol="0" anchor="t"/>
          <a:lstStyle/>
          <a:p>
            <a:pPr algn="l" indent="0" marL="0">
              <a:buNone/>
            </a:pPr>
            <a:r>
              <a:rPr lang="en-US" sz="1400" b="1" dirty="0">
                <a:solidFill>
                  <a:srgbClr val="0D1525"/>
                </a:solidFill>
                <a:latin typeface="Trebuchet MS" pitchFamily="34" charset="0"/>
                <a:ea typeface="Trebuchet MS" pitchFamily="34" charset="-122"/>
                <a:cs typeface="Trebuchet MS" pitchFamily="34" charset="-120"/>
              </a:rPr>
              <a:t>3</a:t>
            </a:r>
            <a:endParaRPr lang="en-US" sz="1400" dirty="0"/>
          </a:p>
        </p:txBody>
      </p:sp>
      <p:sp>
        <p:nvSpPr>
          <p:cNvPr id="23" name="Text 21"/>
          <p:cNvSpPr/>
          <p:nvPr/>
        </p:nvSpPr>
        <p:spPr>
          <a:xfrm>
            <a:off x="4297673" y="2846040"/>
            <a:ext cx="548506" cy="213777"/>
          </a:xfrm>
          <a:prstGeom prst="rect">
            <a:avLst/>
          </a:prstGeom>
          <a:noFill/>
          <a:ln/>
        </p:spPr>
        <p:txBody>
          <a:bodyPr wrap="square" lIns="0" tIns="0" rIns="0" bIns="0" rtlCol="0" anchor="t"/>
          <a:lstStyle/>
          <a:p>
            <a:pPr algn="ctr" indent="0" marL="0">
              <a:lnSpc>
                <a:spcPts val="1560"/>
              </a:lnSpc>
              <a:buNone/>
            </a:pPr>
            <a:r>
              <a:rPr lang="en-US" sz="1300" b="1" dirty="0">
                <a:solidFill>
                  <a:srgbClr val="FFFFFF"/>
                </a:solidFill>
                <a:latin typeface="Trebuchet MS" pitchFamily="34" charset="0"/>
                <a:ea typeface="Trebuchet MS" pitchFamily="34" charset="-122"/>
                <a:cs typeface="Trebuchet MS" pitchFamily="34" charset="-120"/>
              </a:rPr>
              <a:t>Store</a:t>
            </a:r>
            <a:endParaRPr lang="en-US" sz="1300" dirty="0"/>
          </a:p>
        </p:txBody>
      </p:sp>
      <p:sp>
        <p:nvSpPr>
          <p:cNvPr id="24" name="Text 22"/>
          <p:cNvSpPr/>
          <p:nvPr/>
        </p:nvSpPr>
        <p:spPr>
          <a:xfrm>
            <a:off x="4033308" y="3069282"/>
            <a:ext cx="1077385" cy="180987"/>
          </a:xfrm>
          <a:prstGeom prst="rect">
            <a:avLst/>
          </a:prstGeom>
          <a:noFill/>
          <a:ln/>
        </p:spPr>
        <p:txBody>
          <a:bodyPr wrap="square" lIns="0" tIns="0" rIns="0" bIns="0" rtlCol="0" anchor="t"/>
          <a:lstStyle/>
          <a:p>
            <a:pPr algn="ctr" indent="0" marL="0">
              <a:lnSpc>
                <a:spcPts val="1320"/>
              </a:lnSpc>
              <a:spcBef>
                <a:spcPts val="200"/>
              </a:spcBef>
              <a:buNone/>
            </a:pPr>
            <a:r>
              <a:rPr lang="en-US" sz="1100" dirty="0">
                <a:solidFill>
                  <a:srgbClr val="FFFFFF">
                    <a:alpha val="50000"/>
                  </a:srgbClr>
                </a:solidFill>
                <a:latin typeface="Trebuchet MS" pitchFamily="34" charset="0"/>
                <a:ea typeface="Trebuchet MS" pitchFamily="34" charset="-122"/>
                <a:cs typeface="Trebuchet MS" pitchFamily="34" charset="-120"/>
              </a:rPr>
              <a:t>SQLite CRUD</a:t>
            </a:r>
            <a:endParaRPr lang="en-US" sz="1100" dirty="0"/>
          </a:p>
        </p:txBody>
      </p:sp>
      <p:sp>
        <p:nvSpPr>
          <p:cNvPr id="25" name="Shape 23"/>
          <p:cNvSpPr/>
          <p:nvPr/>
        </p:nvSpPr>
        <p:spPr>
          <a:xfrm>
            <a:off x="5321201" y="2801838"/>
            <a:ext cx="76200" cy="0"/>
          </a:xfrm>
          <a:prstGeom prst="line">
            <a:avLst/>
          </a:prstGeom>
          <a:noFill/>
          <a:ln w="47625">
            <a:solidFill>
              <a:srgbClr val="FFFFFF"/>
            </a:solidFill>
            <a:prstDash val="solid"/>
          </a:ln>
        </p:spPr>
      </p:sp>
      <p:sp>
        <p:nvSpPr>
          <p:cNvPr id="26" name="Shape 24"/>
          <p:cNvSpPr/>
          <p:nvPr/>
        </p:nvSpPr>
        <p:spPr>
          <a:xfrm>
            <a:off x="5321201" y="2849463"/>
            <a:ext cx="76200" cy="0"/>
          </a:xfrm>
          <a:prstGeom prst="line">
            <a:avLst/>
          </a:prstGeom>
          <a:noFill/>
          <a:ln w="47625">
            <a:solidFill>
              <a:srgbClr val="FFFFFF"/>
            </a:solidFill>
            <a:prstDash val="solid"/>
          </a:ln>
        </p:spPr>
      </p:sp>
      <p:sp>
        <p:nvSpPr>
          <p:cNvPr id="27" name="Shape 25"/>
          <p:cNvSpPr/>
          <p:nvPr/>
        </p:nvSpPr>
        <p:spPr>
          <a:xfrm>
            <a:off x="5359301" y="2778026"/>
            <a:ext cx="0" cy="95250"/>
          </a:xfrm>
          <a:prstGeom prst="line">
            <a:avLst/>
          </a:prstGeom>
          <a:noFill/>
          <a:ln w="76200">
            <a:solidFill>
              <a:srgbClr val="44D1E4"/>
            </a:solidFill>
            <a:prstDash val="solid"/>
          </a:ln>
        </p:spPr>
      </p:sp>
      <p:sp>
        <p:nvSpPr>
          <p:cNvPr id="28" name="Text 26"/>
          <p:cNvSpPr/>
          <p:nvPr/>
        </p:nvSpPr>
        <p:spPr>
          <a:xfrm>
            <a:off x="5460802" y="1936700"/>
            <a:ext cx="1371600" cy="1777901"/>
          </a:xfrm>
          <a:prstGeom prst="roundRect">
            <a:avLst>
              <a:gd name="adj" fmla="val 7407"/>
            </a:avLst>
          </a:prstGeom>
          <a:solidFill>
            <a:srgbClr val="0D1525"/>
          </a:solidFill>
          <a:ln w="9525">
            <a:solidFill>
              <a:srgbClr val="2A3F5F"/>
            </a:solidFill>
          </a:ln>
        </p:spPr>
        <p:txBody>
          <a:bodyPr wrap="square" rtlCol="0" anchor="ctr"/>
          <a:lstStyle/>
          <a:p>
            <a:pPr indent="0" marL="0">
              <a:buNone/>
            </a:pPr>
            <a:endParaRPr lang="en-US" dirty="0"/>
          </a:p>
        </p:txBody>
      </p:sp>
      <p:sp>
        <p:nvSpPr>
          <p:cNvPr id="29" name="Text 27"/>
          <p:cNvSpPr/>
          <p:nvPr/>
        </p:nvSpPr>
        <p:spPr>
          <a:xfrm>
            <a:off x="5968752" y="2414290"/>
            <a:ext cx="355550" cy="355550"/>
          </a:xfrm>
          <a:prstGeom prst="roundRect">
            <a:avLst>
              <a:gd name="adj" fmla="val 257179"/>
            </a:avLst>
          </a:prstGeom>
          <a:solidFill>
            <a:srgbClr val="44D1E4"/>
          </a:solidFill>
          <a:ln/>
        </p:spPr>
        <p:txBody>
          <a:bodyPr wrap="square" rtlCol="0" anchor="ctr"/>
          <a:lstStyle/>
          <a:p>
            <a:pPr indent="0" marL="0">
              <a:buNone/>
            </a:pPr>
            <a:endParaRPr lang="en-US" dirty="0"/>
          </a:p>
        </p:txBody>
      </p:sp>
      <p:sp>
        <p:nvSpPr>
          <p:cNvPr id="30" name="Text 28"/>
          <p:cNvSpPr/>
          <p:nvPr/>
        </p:nvSpPr>
        <p:spPr>
          <a:xfrm>
            <a:off x="6097042" y="2487216"/>
            <a:ext cx="136580" cy="226314"/>
          </a:xfrm>
          <a:prstGeom prst="rect">
            <a:avLst/>
          </a:prstGeom>
          <a:noFill/>
          <a:ln/>
        </p:spPr>
        <p:txBody>
          <a:bodyPr wrap="square" lIns="0" tIns="0" rIns="0" bIns="0" rtlCol="0" anchor="t"/>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31" name="Text 29"/>
          <p:cNvSpPr/>
          <p:nvPr/>
        </p:nvSpPr>
        <p:spPr>
          <a:xfrm>
            <a:off x="5689245" y="2846040"/>
            <a:ext cx="914564" cy="213777"/>
          </a:xfrm>
          <a:prstGeom prst="rect">
            <a:avLst/>
          </a:prstGeom>
          <a:noFill/>
          <a:ln/>
        </p:spPr>
        <p:txBody>
          <a:bodyPr wrap="square" lIns="0" tIns="0" rIns="0" bIns="0" rtlCol="0" anchor="t"/>
          <a:lstStyle/>
          <a:p>
            <a:pPr algn="ctr" indent="0" marL="0">
              <a:lnSpc>
                <a:spcPts val="1560"/>
              </a:lnSpc>
              <a:buNone/>
            </a:pPr>
            <a:r>
              <a:rPr lang="en-US" sz="1300" b="1" dirty="0">
                <a:solidFill>
                  <a:srgbClr val="FFFFFF"/>
                </a:solidFill>
                <a:latin typeface="Trebuchet MS" pitchFamily="34" charset="0"/>
                <a:ea typeface="Trebuchet MS" pitchFamily="34" charset="-122"/>
                <a:cs typeface="Trebuchet MS" pitchFamily="34" charset="-120"/>
              </a:rPr>
              <a:t>Visualize</a:t>
            </a:r>
            <a:endParaRPr lang="en-US" sz="1300" dirty="0"/>
          </a:p>
        </p:txBody>
      </p:sp>
      <p:sp>
        <p:nvSpPr>
          <p:cNvPr id="32" name="Text 30"/>
          <p:cNvSpPr/>
          <p:nvPr/>
        </p:nvSpPr>
        <p:spPr>
          <a:xfrm>
            <a:off x="5554593" y="3069282"/>
            <a:ext cx="1183868" cy="180987"/>
          </a:xfrm>
          <a:prstGeom prst="rect">
            <a:avLst/>
          </a:prstGeom>
          <a:noFill/>
          <a:ln/>
        </p:spPr>
        <p:txBody>
          <a:bodyPr wrap="square" lIns="0" tIns="0" rIns="0" bIns="0" rtlCol="0" anchor="t"/>
          <a:lstStyle/>
          <a:p>
            <a:pPr algn="ctr" indent="0" marL="0">
              <a:lnSpc>
                <a:spcPts val="1320"/>
              </a:lnSpc>
              <a:spcBef>
                <a:spcPts val="200"/>
              </a:spcBef>
              <a:buNone/>
            </a:pPr>
            <a:r>
              <a:rPr lang="en-US" sz="1100" dirty="0">
                <a:solidFill>
                  <a:srgbClr val="FFFFFF">
                    <a:alpha val="50000"/>
                  </a:srgbClr>
                </a:solidFill>
                <a:latin typeface="Trebuchet MS" pitchFamily="34" charset="0"/>
                <a:ea typeface="Trebuchet MS" pitchFamily="34" charset="-122"/>
                <a:cs typeface="Trebuchet MS" pitchFamily="34" charset="-120"/>
              </a:rPr>
              <a:t>Live dashboard</a:t>
            </a:r>
            <a:endParaRPr lang="en-US" sz="1100" dirty="0"/>
          </a:p>
        </p:txBody>
      </p:sp>
      <p:sp>
        <p:nvSpPr>
          <p:cNvPr id="33" name="Shape 31"/>
          <p:cNvSpPr/>
          <p:nvPr/>
        </p:nvSpPr>
        <p:spPr>
          <a:xfrm>
            <a:off x="6895802" y="2801838"/>
            <a:ext cx="76200" cy="0"/>
          </a:xfrm>
          <a:prstGeom prst="line">
            <a:avLst/>
          </a:prstGeom>
          <a:noFill/>
          <a:ln w="47625">
            <a:solidFill>
              <a:srgbClr val="FFFFFF"/>
            </a:solidFill>
            <a:prstDash val="solid"/>
          </a:ln>
        </p:spPr>
      </p:sp>
      <p:sp>
        <p:nvSpPr>
          <p:cNvPr id="34" name="Shape 32"/>
          <p:cNvSpPr/>
          <p:nvPr/>
        </p:nvSpPr>
        <p:spPr>
          <a:xfrm>
            <a:off x="6895802" y="2849463"/>
            <a:ext cx="76200" cy="0"/>
          </a:xfrm>
          <a:prstGeom prst="line">
            <a:avLst/>
          </a:prstGeom>
          <a:noFill/>
          <a:ln w="47625">
            <a:solidFill>
              <a:srgbClr val="FFFFFF"/>
            </a:solidFill>
            <a:prstDash val="solid"/>
          </a:ln>
        </p:spPr>
      </p:sp>
      <p:sp>
        <p:nvSpPr>
          <p:cNvPr id="35" name="Shape 33"/>
          <p:cNvSpPr/>
          <p:nvPr/>
        </p:nvSpPr>
        <p:spPr>
          <a:xfrm>
            <a:off x="6933902" y="2778026"/>
            <a:ext cx="0" cy="95250"/>
          </a:xfrm>
          <a:prstGeom prst="line">
            <a:avLst/>
          </a:prstGeom>
          <a:noFill/>
          <a:ln w="76200">
            <a:solidFill>
              <a:srgbClr val="44D1E4"/>
            </a:solidFill>
            <a:prstDash val="solid"/>
          </a:ln>
        </p:spPr>
      </p:sp>
      <p:sp>
        <p:nvSpPr>
          <p:cNvPr id="36" name="Text 34"/>
          <p:cNvSpPr/>
          <p:nvPr/>
        </p:nvSpPr>
        <p:spPr>
          <a:xfrm>
            <a:off x="7035403" y="1936700"/>
            <a:ext cx="1371600" cy="1777901"/>
          </a:xfrm>
          <a:prstGeom prst="roundRect">
            <a:avLst>
              <a:gd name="adj" fmla="val 7407"/>
            </a:avLst>
          </a:prstGeom>
          <a:solidFill>
            <a:srgbClr val="44D1E4">
              <a:alpha val="10000"/>
            </a:srgbClr>
          </a:solidFill>
          <a:ln w="9525">
            <a:solidFill>
              <a:srgbClr val="44D1E4"/>
            </a:solidFill>
          </a:ln>
        </p:spPr>
        <p:txBody>
          <a:bodyPr wrap="square" rtlCol="0" anchor="ctr"/>
          <a:lstStyle/>
          <a:p>
            <a:pPr indent="0" marL="0">
              <a:buNone/>
            </a:pPr>
            <a:endParaRPr lang="en-US" dirty="0"/>
          </a:p>
        </p:txBody>
      </p:sp>
      <p:sp>
        <p:nvSpPr>
          <p:cNvPr id="37" name="Text 35"/>
          <p:cNvSpPr/>
          <p:nvPr/>
        </p:nvSpPr>
        <p:spPr>
          <a:xfrm>
            <a:off x="7543354" y="2414290"/>
            <a:ext cx="355550" cy="355550"/>
          </a:xfrm>
          <a:prstGeom prst="roundRect">
            <a:avLst>
              <a:gd name="adj" fmla="val 257179"/>
            </a:avLst>
          </a:prstGeom>
          <a:solidFill>
            <a:srgbClr val="44D1E4"/>
          </a:solidFill>
          <a:ln/>
        </p:spPr>
        <p:txBody>
          <a:bodyPr wrap="square" rtlCol="0" anchor="ctr"/>
          <a:lstStyle/>
          <a:p>
            <a:pPr indent="0" marL="0">
              <a:buNone/>
            </a:pPr>
            <a:endParaRPr lang="en-US" dirty="0"/>
          </a:p>
        </p:txBody>
      </p:sp>
      <p:sp>
        <p:nvSpPr>
          <p:cNvPr id="38" name="Text 36"/>
          <p:cNvSpPr/>
          <p:nvPr/>
        </p:nvSpPr>
        <p:spPr>
          <a:xfrm>
            <a:off x="7671643" y="2487216"/>
            <a:ext cx="136580" cy="226314"/>
          </a:xfrm>
          <a:prstGeom prst="rect">
            <a:avLst/>
          </a:prstGeom>
          <a:noFill/>
          <a:ln/>
        </p:spPr>
        <p:txBody>
          <a:bodyPr wrap="square" lIns="0" tIns="0" rIns="0" bIns="0" rtlCol="0" anchor="t"/>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39" name="Text 37"/>
          <p:cNvSpPr/>
          <p:nvPr/>
        </p:nvSpPr>
        <p:spPr>
          <a:xfrm>
            <a:off x="7387456" y="2846040"/>
            <a:ext cx="667494" cy="213777"/>
          </a:xfrm>
          <a:prstGeom prst="rect">
            <a:avLst/>
          </a:prstGeom>
          <a:noFill/>
          <a:ln/>
        </p:spPr>
        <p:txBody>
          <a:bodyPr wrap="square" lIns="0" tIns="0" rIns="0" bIns="0" rtlCol="0" anchor="t"/>
          <a:lstStyle/>
          <a:p>
            <a:pPr algn="ctr" indent="0" marL="0">
              <a:lnSpc>
                <a:spcPts val="1560"/>
              </a:lnSpc>
              <a:buNone/>
            </a:pPr>
            <a:r>
              <a:rPr lang="en-US" sz="1300" b="1" dirty="0">
                <a:solidFill>
                  <a:srgbClr val="44D1E4"/>
                </a:solidFill>
                <a:latin typeface="Trebuchet MS" pitchFamily="34" charset="0"/>
                <a:ea typeface="Trebuchet MS" pitchFamily="34" charset="-122"/>
                <a:cs typeface="Trebuchet MS" pitchFamily="34" charset="-120"/>
              </a:rPr>
              <a:t>Action</a:t>
            </a:r>
            <a:endParaRPr lang="en-US" sz="1300" dirty="0"/>
          </a:p>
        </p:txBody>
      </p:sp>
      <p:sp>
        <p:nvSpPr>
          <p:cNvPr id="40" name="Text 38"/>
          <p:cNvSpPr/>
          <p:nvPr/>
        </p:nvSpPr>
        <p:spPr>
          <a:xfrm>
            <a:off x="7129379" y="3069282"/>
            <a:ext cx="1183499" cy="180987"/>
          </a:xfrm>
          <a:prstGeom prst="rect">
            <a:avLst/>
          </a:prstGeom>
          <a:noFill/>
          <a:ln/>
        </p:spPr>
        <p:txBody>
          <a:bodyPr wrap="square" lIns="0" tIns="0" rIns="0" bIns="0" rtlCol="0" anchor="t"/>
          <a:lstStyle/>
          <a:p>
            <a:pPr algn="ctr" indent="0" marL="0">
              <a:lnSpc>
                <a:spcPts val="1320"/>
              </a:lnSpc>
              <a:spcBef>
                <a:spcPts val="200"/>
              </a:spcBef>
              <a:buNone/>
            </a:pPr>
            <a:r>
              <a:rPr lang="en-US" sz="1100" dirty="0">
                <a:solidFill>
                  <a:srgbClr val="FFFFFF">
                    <a:alpha val="50000"/>
                  </a:srgbClr>
                </a:solidFill>
                <a:latin typeface="Trebuchet MS" pitchFamily="34" charset="0"/>
                <a:ea typeface="Trebuchet MS" pitchFamily="34" charset="-122"/>
                <a:cs typeface="Trebuchet MS" pitchFamily="34" charset="-120"/>
              </a:rPr>
              <a:t>Admin resolves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525"/>
        </a:solidFill>
      </p:bgPr>
    </p:bg>
    <p:spTree>
      <p:nvGrpSpPr>
        <p:cNvPr id="1" name=""/>
        <p:cNvGrpSpPr/>
        <p:nvPr/>
      </p:nvGrpSpPr>
      <p:grpSpPr>
        <a:xfrm>
          <a:off x="0" y="0"/>
          <a:ext cx="0" cy="0"/>
          <a:chOff x="0" y="0"/>
          <a:chExt cx="0" cy="0"/>
        </a:xfrm>
      </p:grpSpPr>
      <p:sp>
        <p:nvSpPr>
          <p:cNvPr id="2" name="Text 0"/>
          <p:cNvSpPr/>
          <p:nvPr/>
        </p:nvSpPr>
        <p:spPr>
          <a:xfrm>
            <a:off x="3173319" y="406301"/>
            <a:ext cx="2797362" cy="390906"/>
          </a:xfrm>
          <a:prstGeom prst="rect">
            <a:avLst/>
          </a:prstGeom>
          <a:noFill/>
          <a:ln/>
        </p:spPr>
        <p:txBody>
          <a:bodyPr wrap="square" lIns="0" tIns="0" rIns="0" bIns="0" rtlCol="0" anchor="t"/>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Why It Matters</a:t>
            </a:r>
            <a:endParaRPr lang="en-US" sz="2600" dirty="0"/>
          </a:p>
        </p:txBody>
      </p:sp>
      <p:sp>
        <p:nvSpPr>
          <p:cNvPr id="3" name="Text 1"/>
          <p:cNvSpPr/>
          <p:nvPr/>
        </p:nvSpPr>
        <p:spPr>
          <a:xfrm>
            <a:off x="4317950" y="904726"/>
            <a:ext cx="507950" cy="38100"/>
          </a:xfrm>
          <a:prstGeom prst="rect">
            <a:avLst/>
          </a:prstGeom>
          <a:solidFill>
            <a:srgbClr val="44D1E4"/>
          </a:solidFill>
          <a:ln/>
        </p:spPr>
        <p:txBody>
          <a:bodyPr wrap="square" rtlCol="0" anchor="ctr"/>
          <a:lstStyle/>
          <a:p>
            <a:pPr indent="0" marL="0">
              <a:buNone/>
            </a:pPr>
            <a:endParaRPr lang="en-US" dirty="0"/>
          </a:p>
        </p:txBody>
      </p:sp>
      <p:sp>
        <p:nvSpPr>
          <p:cNvPr id="4" name="Text 2"/>
          <p:cNvSpPr/>
          <p:nvPr/>
        </p:nvSpPr>
        <p:spPr>
          <a:xfrm>
            <a:off x="711250" y="1247626"/>
            <a:ext cx="2438400" cy="2698105"/>
          </a:xfrm>
          <a:prstGeom prst="roundRect">
            <a:avLst>
              <a:gd name="adj" fmla="val 5208"/>
            </a:avLst>
          </a:prstGeom>
          <a:solidFill>
            <a:srgbClr val="FFFFFF">
              <a:alpha val="5000"/>
            </a:srgbClr>
          </a:solidFill>
          <a:ln w="9525">
            <a:solidFill>
              <a:srgbClr val="FFFFFF"/>
            </a:solidFill>
          </a:ln>
        </p:spPr>
        <p:txBody>
          <a:bodyPr wrap="square" rtlCol="0" anchor="ctr"/>
          <a:lstStyle/>
          <a:p>
            <a:pPr indent="0" marL="0">
              <a:buNone/>
            </a:pPr>
            <a:endParaRPr lang="en-US" dirty="0"/>
          </a:p>
        </p:txBody>
      </p:sp>
      <p:pic>
        <p:nvPicPr>
          <p:cNvPr id="5" name="Image 0" descr="/home/z/my-project/download/crimeaware-ppt/assets/icon-check.png">    </p:cNvPr>
          <p:cNvPicPr>
            <a:picLocks noChangeAspect="1"/>
          </p:cNvPicPr>
          <p:nvPr/>
        </p:nvPicPr>
        <p:blipFill>
          <a:blip r:embed="rId1"/>
          <a:stretch>
            <a:fillRect/>
          </a:stretch>
        </p:blipFill>
        <p:spPr>
          <a:xfrm>
            <a:off x="1676400" y="1612702"/>
            <a:ext cx="507950" cy="507950"/>
          </a:xfrm>
          <a:prstGeom prst="rect">
            <a:avLst/>
          </a:prstGeom>
        </p:spPr>
      </p:pic>
      <p:sp>
        <p:nvSpPr>
          <p:cNvPr id="6" name="Text 3"/>
          <p:cNvSpPr/>
          <p:nvPr/>
        </p:nvSpPr>
        <p:spPr>
          <a:xfrm>
            <a:off x="443316" y="2273052"/>
            <a:ext cx="2974268" cy="288036"/>
          </a:xfrm>
          <a:prstGeom prst="rect">
            <a:avLst/>
          </a:prstGeom>
          <a:noFill/>
          <a:ln/>
        </p:spPr>
        <p:txBody>
          <a:bodyPr wrap="none" lIns="0" tIns="0" rIns="0" bIns="0" rtlCol="0" anchor="t"/>
          <a:lstStyle/>
          <a:p>
            <a:pPr algn="ctr" indent="0" marL="0">
              <a:buNone/>
            </a:pPr>
            <a:r>
              <a:rPr lang="en-US" sz="1800" b="1" dirty="0">
                <a:solidFill>
                  <a:srgbClr val="44D1E4"/>
                </a:solidFill>
                <a:latin typeface="Trebuchet MS" pitchFamily="34" charset="0"/>
                <a:ea typeface="Trebuchet MS" pitchFamily="34" charset="-122"/>
                <a:cs typeface="Trebuchet MS" pitchFamily="34" charset="-120"/>
              </a:rPr>
              <a:t>Democratizes Safety</a:t>
            </a:r>
            <a:endParaRPr lang="en-US" sz="1800" dirty="0"/>
          </a:p>
        </p:txBody>
      </p:sp>
      <p:sp>
        <p:nvSpPr>
          <p:cNvPr id="7" name="Text 4"/>
          <p:cNvSpPr/>
          <p:nvPr/>
        </p:nvSpPr>
        <p:spPr>
          <a:xfrm>
            <a:off x="873599" y="2838152"/>
            <a:ext cx="2113702" cy="801904"/>
          </a:xfrm>
          <a:prstGeom prst="rect">
            <a:avLst/>
          </a:prstGeom>
          <a:noFill/>
          <a:ln/>
        </p:spPr>
        <p:txBody>
          <a:bodyPr wrap="square" lIns="0" tIns="0" rIns="0" bIns="0" rtlCol="0" anchor="t"/>
          <a:lstStyle/>
          <a:p>
            <a:pPr algn="ctr" indent="0" marL="0">
              <a:lnSpc>
                <a:spcPts val="1950"/>
              </a:lnSpc>
              <a:spcBef>
                <a:spcPts val="1000"/>
              </a:spcBef>
              <a:buNone/>
            </a:pPr>
            <a:r>
              <a:rPr lang="en-US" sz="1300" dirty="0">
                <a:solidFill>
                  <a:srgbClr val="FFFFFF">
                    <a:alpha val="65000"/>
                  </a:srgbClr>
                </a:solidFill>
                <a:latin typeface="Trebuchet MS" pitchFamily="34" charset="0"/>
                <a:ea typeface="Trebuchet MS" pitchFamily="34" charset="-122"/>
                <a:cs typeface="Trebuchet MS" pitchFamily="34" charset="-120"/>
              </a:rPr>
              <a:t>Gives power back to the neighborhood watch, empowering every citizen.</a:t>
            </a:r>
            <a:endParaRPr lang="en-US" sz="1300" dirty="0"/>
          </a:p>
        </p:txBody>
      </p:sp>
      <p:sp>
        <p:nvSpPr>
          <p:cNvPr id="8" name="Text 5"/>
          <p:cNvSpPr/>
          <p:nvPr/>
        </p:nvSpPr>
        <p:spPr>
          <a:xfrm>
            <a:off x="3352800" y="1247626"/>
            <a:ext cx="2438400" cy="2698105"/>
          </a:xfrm>
          <a:prstGeom prst="roundRect">
            <a:avLst>
              <a:gd name="adj" fmla="val 5208"/>
            </a:avLst>
          </a:prstGeom>
          <a:solidFill>
            <a:srgbClr val="FFFFFF">
              <a:alpha val="5000"/>
            </a:srgbClr>
          </a:solidFill>
          <a:ln w="9525">
            <a:solidFill>
              <a:srgbClr val="FFFFFF"/>
            </a:solidFill>
          </a:ln>
        </p:spPr>
        <p:txBody>
          <a:bodyPr wrap="square" rtlCol="0" anchor="ctr"/>
          <a:lstStyle/>
          <a:p>
            <a:pPr indent="0" marL="0">
              <a:buNone/>
            </a:pPr>
            <a:endParaRPr lang="en-US" dirty="0"/>
          </a:p>
        </p:txBody>
      </p:sp>
      <p:pic>
        <p:nvPicPr>
          <p:cNvPr id="9" name="Image 1" descr="/home/z/my-project/download/crimeaware-ppt/assets/icon-dashboard.png">    </p:cNvPr>
          <p:cNvPicPr>
            <a:picLocks noChangeAspect="1"/>
          </p:cNvPicPr>
          <p:nvPr/>
        </p:nvPicPr>
        <p:blipFill>
          <a:blip r:embed="rId2"/>
          <a:stretch>
            <a:fillRect/>
          </a:stretch>
        </p:blipFill>
        <p:spPr>
          <a:xfrm>
            <a:off x="4317950" y="1612702"/>
            <a:ext cx="507950" cy="507950"/>
          </a:xfrm>
          <a:prstGeom prst="rect">
            <a:avLst/>
          </a:prstGeom>
        </p:spPr>
      </p:pic>
      <p:sp>
        <p:nvSpPr>
          <p:cNvPr id="10" name="Text 6"/>
          <p:cNvSpPr/>
          <p:nvPr/>
        </p:nvSpPr>
        <p:spPr>
          <a:xfrm>
            <a:off x="3085262" y="2273052"/>
            <a:ext cx="2973476" cy="288036"/>
          </a:xfrm>
          <a:prstGeom prst="rect">
            <a:avLst/>
          </a:prstGeom>
          <a:noFill/>
          <a:ln/>
        </p:spPr>
        <p:txBody>
          <a:bodyPr wrap="none" lIns="0" tIns="0" rIns="0" bIns="0" rtlCol="0" anchor="t"/>
          <a:lstStyle/>
          <a:p>
            <a:pPr algn="ctr" indent="0" marL="0">
              <a:buNone/>
            </a:pPr>
            <a:r>
              <a:rPr lang="en-US" sz="1800" b="1" dirty="0">
                <a:solidFill>
                  <a:srgbClr val="EDCD82"/>
                </a:solidFill>
                <a:latin typeface="Trebuchet MS" pitchFamily="34" charset="0"/>
                <a:ea typeface="Trebuchet MS" pitchFamily="34" charset="-122"/>
                <a:cs typeface="Trebuchet MS" pitchFamily="34" charset="-120"/>
              </a:rPr>
              <a:t>Data-Driven Policing</a:t>
            </a:r>
            <a:endParaRPr lang="en-US" sz="1800" dirty="0"/>
          </a:p>
        </p:txBody>
      </p:sp>
      <p:sp>
        <p:nvSpPr>
          <p:cNvPr id="11" name="Text 7"/>
          <p:cNvSpPr/>
          <p:nvPr/>
        </p:nvSpPr>
        <p:spPr>
          <a:xfrm>
            <a:off x="3515149" y="2838152"/>
            <a:ext cx="2113702" cy="801904"/>
          </a:xfrm>
          <a:prstGeom prst="rect">
            <a:avLst/>
          </a:prstGeom>
          <a:noFill/>
          <a:ln/>
        </p:spPr>
        <p:txBody>
          <a:bodyPr wrap="square" lIns="0" tIns="0" rIns="0" bIns="0" rtlCol="0" anchor="t"/>
          <a:lstStyle/>
          <a:p>
            <a:pPr algn="ctr" indent="0" marL="0">
              <a:lnSpc>
                <a:spcPts val="1950"/>
              </a:lnSpc>
              <a:spcBef>
                <a:spcPts val="1000"/>
              </a:spcBef>
              <a:buNone/>
            </a:pPr>
            <a:r>
              <a:rPr lang="en-US" sz="1300" dirty="0">
                <a:solidFill>
                  <a:srgbClr val="FFFFFF">
                    <a:alpha val="65000"/>
                  </a:srgbClr>
                </a:solidFill>
                <a:latin typeface="Trebuchet MS" pitchFamily="34" charset="0"/>
                <a:ea typeface="Trebuchet MS" pitchFamily="34" charset="-122"/>
                <a:cs typeface="Trebuchet MS" pitchFamily="34" charset="-120"/>
              </a:rPr>
              <a:t>Provides authorities with heat-maps of localized incidents and trends.</a:t>
            </a:r>
            <a:endParaRPr lang="en-US" sz="1300" dirty="0"/>
          </a:p>
        </p:txBody>
      </p:sp>
      <p:sp>
        <p:nvSpPr>
          <p:cNvPr id="12" name="Text 8"/>
          <p:cNvSpPr/>
          <p:nvPr/>
        </p:nvSpPr>
        <p:spPr>
          <a:xfrm>
            <a:off x="5994350" y="1247626"/>
            <a:ext cx="2438400" cy="2698105"/>
          </a:xfrm>
          <a:prstGeom prst="roundRect">
            <a:avLst>
              <a:gd name="adj" fmla="val 5208"/>
            </a:avLst>
          </a:prstGeom>
          <a:solidFill>
            <a:srgbClr val="FFFFFF">
              <a:alpha val="5000"/>
            </a:srgbClr>
          </a:solidFill>
          <a:ln w="9525">
            <a:solidFill>
              <a:srgbClr val="FFFFFF"/>
            </a:solidFill>
          </a:ln>
        </p:spPr>
        <p:txBody>
          <a:bodyPr wrap="square" rtlCol="0" anchor="ctr"/>
          <a:lstStyle/>
          <a:p>
            <a:pPr indent="0" marL="0">
              <a:buNone/>
            </a:pPr>
            <a:endParaRPr lang="en-US" dirty="0"/>
          </a:p>
        </p:txBody>
      </p:sp>
      <p:pic>
        <p:nvPicPr>
          <p:cNvPr id="13" name="Image 2" descr="/home/z/my-project/download/crimeaware-ppt/assets/icon-lock.png">    </p:cNvPr>
          <p:cNvPicPr>
            <a:picLocks noChangeAspect="1"/>
          </p:cNvPicPr>
          <p:nvPr/>
        </p:nvPicPr>
        <p:blipFill>
          <a:blip r:embed="rId3"/>
          <a:stretch>
            <a:fillRect/>
          </a:stretch>
        </p:blipFill>
        <p:spPr>
          <a:xfrm>
            <a:off x="6959501" y="1612702"/>
            <a:ext cx="507950" cy="507950"/>
          </a:xfrm>
          <a:prstGeom prst="rect">
            <a:avLst/>
          </a:prstGeom>
        </p:spPr>
      </p:pic>
      <p:sp>
        <p:nvSpPr>
          <p:cNvPr id="14" name="Text 9"/>
          <p:cNvSpPr/>
          <p:nvPr/>
        </p:nvSpPr>
        <p:spPr>
          <a:xfrm>
            <a:off x="5954643" y="2273052"/>
            <a:ext cx="2517815" cy="288036"/>
          </a:xfrm>
          <a:prstGeom prst="rect">
            <a:avLst/>
          </a:prstGeom>
          <a:noFill/>
          <a:ln/>
        </p:spPr>
        <p:txBody>
          <a:bodyPr wrap="none" lIns="0" tIns="0" rIns="0" bIns="0" rtlCol="0" anchor="t"/>
          <a:lstStyle/>
          <a:p>
            <a:pPr algn="ctr" indent="0" marL="0">
              <a:buNone/>
            </a:pPr>
            <a:r>
              <a:rPr lang="en-US" sz="1800" b="1" dirty="0">
                <a:solidFill>
                  <a:srgbClr val="44D1E4"/>
                </a:solidFill>
                <a:latin typeface="Trebuchet MS" pitchFamily="34" charset="0"/>
                <a:ea typeface="Trebuchet MS" pitchFamily="34" charset="-122"/>
                <a:cs typeface="Trebuchet MS" pitchFamily="34" charset="-120"/>
              </a:rPr>
              <a:t>Deterrence Effect</a:t>
            </a:r>
            <a:endParaRPr lang="en-US" sz="1800" dirty="0"/>
          </a:p>
        </p:txBody>
      </p:sp>
      <p:sp>
        <p:nvSpPr>
          <p:cNvPr id="15" name="Text 10"/>
          <p:cNvSpPr/>
          <p:nvPr/>
        </p:nvSpPr>
        <p:spPr>
          <a:xfrm>
            <a:off x="6156700" y="2838152"/>
            <a:ext cx="2113702" cy="801904"/>
          </a:xfrm>
          <a:prstGeom prst="rect">
            <a:avLst/>
          </a:prstGeom>
          <a:noFill/>
          <a:ln/>
        </p:spPr>
        <p:txBody>
          <a:bodyPr wrap="square" lIns="0" tIns="0" rIns="0" bIns="0" rtlCol="0" anchor="t"/>
          <a:lstStyle/>
          <a:p>
            <a:pPr algn="ctr" indent="0" marL="0">
              <a:lnSpc>
                <a:spcPts val="1950"/>
              </a:lnSpc>
              <a:spcBef>
                <a:spcPts val="1000"/>
              </a:spcBef>
              <a:buNone/>
            </a:pPr>
            <a:r>
              <a:rPr lang="en-US" sz="1300" dirty="0">
                <a:solidFill>
                  <a:srgbClr val="FFFFFF">
                    <a:alpha val="65000"/>
                  </a:srgbClr>
                </a:solidFill>
                <a:latin typeface="Trebuchet MS" pitchFamily="34" charset="0"/>
                <a:ea typeface="Trebuchet MS" pitchFamily="34" charset="-122"/>
                <a:cs typeface="Trebuchet MS" pitchFamily="34" charset="-120"/>
              </a:rPr>
              <a:t>Visible reporting creates a psychological deterrent for local crimes.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roadmap-bg.jp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D1525">
              <a:alpha val="88000"/>
            </a:srgbClr>
          </a:solidFill>
          <a:ln/>
        </p:spPr>
        <p:txBody>
          <a:bodyPr wrap="square" rtlCol="0" anchor="ctr"/>
          <a:lstStyle/>
          <a:p>
            <a:pPr indent="0" marL="0">
              <a:buNone/>
            </a:pPr>
            <a:endParaRPr lang="en-US" dirty="0"/>
          </a:p>
        </p:txBody>
      </p:sp>
      <p:sp>
        <p:nvSpPr>
          <p:cNvPr id="4" name="Text 1"/>
          <p:cNvSpPr/>
          <p:nvPr/>
        </p:nvSpPr>
        <p:spPr>
          <a:xfrm>
            <a:off x="609600" y="304800"/>
            <a:ext cx="3964964" cy="370332"/>
          </a:xfrm>
          <a:prstGeom prst="rect">
            <a:avLst/>
          </a:prstGeom>
          <a:noFill/>
          <a:ln/>
        </p:spPr>
        <p:txBody>
          <a:bodyPr wrap="none" lIns="0" tIns="0" rIns="0" bIns="0" rtlCol="0" anchor="t"/>
          <a:lstStyle/>
          <a:p>
            <a:pPr algn="l" indent="0" marL="0">
              <a:buNone/>
            </a:pPr>
            <a:r>
              <a:rPr lang="en-US" sz="2400" b="1" dirty="0">
                <a:solidFill>
                  <a:srgbClr val="FFFFFF"/>
                </a:solidFill>
                <a:latin typeface="Trebuchet MS" pitchFamily="34" charset="0"/>
                <a:ea typeface="Trebuchet MS" pitchFamily="34" charset="-122"/>
                <a:cs typeface="Trebuchet MS" pitchFamily="34" charset="-120"/>
              </a:rPr>
              <a:t>Scalability Roadmap</a:t>
            </a:r>
            <a:endParaRPr lang="en-US" sz="2400" dirty="0"/>
          </a:p>
        </p:txBody>
      </p:sp>
      <p:sp>
        <p:nvSpPr>
          <p:cNvPr id="5" name="Text 2"/>
          <p:cNvSpPr/>
          <p:nvPr/>
        </p:nvSpPr>
        <p:spPr>
          <a:xfrm>
            <a:off x="609600" y="733425"/>
            <a:ext cx="507950" cy="38100"/>
          </a:xfrm>
          <a:prstGeom prst="rect">
            <a:avLst/>
          </a:prstGeom>
          <a:solidFill>
            <a:srgbClr val="44D1E4"/>
          </a:solidFill>
          <a:ln/>
        </p:spPr>
        <p:txBody>
          <a:bodyPr wrap="square" rtlCol="0" anchor="ctr"/>
          <a:lstStyle/>
          <a:p>
            <a:pPr indent="0" marL="0">
              <a:buNone/>
            </a:pPr>
            <a:endParaRPr lang="en-US" dirty="0"/>
          </a:p>
        </p:txBody>
      </p:sp>
      <p:sp>
        <p:nvSpPr>
          <p:cNvPr id="6" name="Text 3"/>
          <p:cNvSpPr/>
          <p:nvPr/>
        </p:nvSpPr>
        <p:spPr>
          <a:xfrm>
            <a:off x="609600" y="949226"/>
            <a:ext cx="2539901" cy="1918395"/>
          </a:xfrm>
          <a:prstGeom prst="roundRect">
            <a:avLst>
              <a:gd name="adj" fmla="val 6620"/>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7" name="Image 1" descr="/home/z/my-project/download/crimeaware-ppt/assets/icon-sms.png">    </p:cNvPr>
          <p:cNvPicPr>
            <a:picLocks noChangeAspect="1"/>
          </p:cNvPicPr>
          <p:nvPr/>
        </p:nvPicPr>
        <p:blipFill>
          <a:blip r:embed="rId2"/>
          <a:stretch>
            <a:fillRect/>
          </a:stretch>
        </p:blipFill>
        <p:spPr>
          <a:xfrm>
            <a:off x="822275" y="1161901"/>
            <a:ext cx="355550" cy="355550"/>
          </a:xfrm>
          <a:prstGeom prst="rect">
            <a:avLst/>
          </a:prstGeom>
        </p:spPr>
      </p:pic>
      <p:sp>
        <p:nvSpPr>
          <p:cNvPr id="8" name="Text 4"/>
          <p:cNvSpPr/>
          <p:nvPr/>
        </p:nvSpPr>
        <p:spPr>
          <a:xfrm>
            <a:off x="822275" y="1657052"/>
            <a:ext cx="2748915" cy="231618"/>
          </a:xfrm>
          <a:prstGeom prst="rect">
            <a:avLst/>
          </a:prstGeom>
          <a:noFill/>
          <a:ln/>
        </p:spPr>
        <p:txBody>
          <a:bodyPr wrap="square" lIns="0" tIns="0" rIns="0" bIns="0" rtlCol="0" anchor="t"/>
          <a:lstStyle/>
          <a:p>
            <a:pPr algn="l" indent="0" marL="0">
              <a:lnSpc>
                <a:spcPts val="1690"/>
              </a:lnSpc>
              <a:spcAft>
                <a:spcPts val="300"/>
              </a:spcAft>
              <a:buNone/>
            </a:pPr>
            <a:r>
              <a:rPr lang="en-US" sz="1300" b="1" dirty="0">
                <a:solidFill>
                  <a:srgbClr val="EDCD82"/>
                </a:solidFill>
                <a:latin typeface="Trebuchet MS" pitchFamily="34" charset="0"/>
                <a:ea typeface="Trebuchet MS" pitchFamily="34" charset="-122"/>
                <a:cs typeface="Trebuchet MS" pitchFamily="34" charset="-120"/>
              </a:rPr>
              <a:t>Phase 2</a:t>
            </a:r>
            <a:endParaRPr lang="en-US" sz="1300" dirty="0"/>
          </a:p>
        </p:txBody>
      </p:sp>
      <p:sp>
        <p:nvSpPr>
          <p:cNvPr id="9" name="Text 5"/>
          <p:cNvSpPr/>
          <p:nvPr/>
        </p:nvSpPr>
        <p:spPr>
          <a:xfrm>
            <a:off x="822275" y="1909614"/>
            <a:ext cx="2495169" cy="285143"/>
          </a:xfrm>
          <a:prstGeom prst="rect">
            <a:avLst/>
          </a:prstGeom>
          <a:noFill/>
          <a:ln/>
        </p:spPr>
        <p:txBody>
          <a:bodyPr wrap="square" lIns="0" tIns="0" rIns="0" bIns="0" rtlCol="0" anchor="t"/>
          <a:lstStyle/>
          <a:p>
            <a:pPr algn="l" indent="0" marL="0">
              <a:lnSpc>
                <a:spcPts val="2080"/>
              </a:lnSpc>
              <a:spcAft>
                <a:spcPts val="600"/>
              </a:spcAft>
              <a:buNone/>
            </a:pPr>
            <a:r>
              <a:rPr lang="en-US" sz="1600" b="1" dirty="0">
                <a:solidFill>
                  <a:srgbClr val="FFFFFF"/>
                </a:solidFill>
                <a:latin typeface="Trebuchet MS" pitchFamily="34" charset="0"/>
                <a:ea typeface="Trebuchet MS" pitchFamily="34" charset="-122"/>
                <a:cs typeface="Trebuchet MS" pitchFamily="34" charset="-120"/>
              </a:rPr>
              <a:t>Real-Time Alerts</a:t>
            </a:r>
            <a:endParaRPr lang="en-US" sz="1600" dirty="0"/>
          </a:p>
        </p:txBody>
      </p:sp>
      <p:sp>
        <p:nvSpPr>
          <p:cNvPr id="10" name="Text 6"/>
          <p:cNvSpPr/>
          <p:nvPr/>
        </p:nvSpPr>
        <p:spPr>
          <a:xfrm>
            <a:off x="822275" y="2249835"/>
            <a:ext cx="2220278" cy="437519"/>
          </a:xfrm>
          <a:prstGeom prst="rect">
            <a:avLst/>
          </a:prstGeom>
          <a:noFill/>
          <a:ln/>
        </p:spPr>
        <p:txBody>
          <a:bodyPr wrap="square" lIns="0" tIns="0" rIns="0" bIns="0" rtlCol="0" anchor="t"/>
          <a:lstStyle/>
          <a:p>
            <a:pPr algn="l" indent="0" marL="0">
              <a:lnSpc>
                <a:spcPts val="1595"/>
              </a:lnSpc>
              <a:buNone/>
            </a:pPr>
            <a:r>
              <a:rPr lang="en-US" sz="1100" dirty="0">
                <a:solidFill>
                  <a:srgbClr val="FFFFFF">
                    <a:alpha val="60000"/>
                  </a:srgbClr>
                </a:solidFill>
                <a:latin typeface="Trebuchet MS" pitchFamily="34" charset="0"/>
                <a:ea typeface="Trebuchet MS" pitchFamily="34" charset="-122"/>
                <a:cs typeface="Trebuchet MS" pitchFamily="34" charset="-120"/>
              </a:rPr>
              <a:t>SMS/Email notifications for immediate threat awareness.</a:t>
            </a:r>
            <a:endParaRPr lang="en-US" sz="1100" dirty="0"/>
          </a:p>
        </p:txBody>
      </p:sp>
      <p:sp>
        <p:nvSpPr>
          <p:cNvPr id="11" name="Text 7"/>
          <p:cNvSpPr/>
          <p:nvPr/>
        </p:nvSpPr>
        <p:spPr>
          <a:xfrm>
            <a:off x="3301901" y="949226"/>
            <a:ext cx="2540050" cy="1918395"/>
          </a:xfrm>
          <a:prstGeom prst="roundRect">
            <a:avLst>
              <a:gd name="adj" fmla="val 6620"/>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12" name="Image 2" descr="/home/z/my-project/download/crimeaware-ppt/assets/icon-map.png">    </p:cNvPr>
          <p:cNvPicPr>
            <a:picLocks noChangeAspect="1"/>
          </p:cNvPicPr>
          <p:nvPr/>
        </p:nvPicPr>
        <p:blipFill>
          <a:blip r:embed="rId3"/>
          <a:stretch>
            <a:fillRect/>
          </a:stretch>
        </p:blipFill>
        <p:spPr>
          <a:xfrm>
            <a:off x="3514576" y="1161901"/>
            <a:ext cx="355550" cy="355550"/>
          </a:xfrm>
          <a:prstGeom prst="rect">
            <a:avLst/>
          </a:prstGeom>
        </p:spPr>
      </p:pic>
      <p:sp>
        <p:nvSpPr>
          <p:cNvPr id="13" name="Text 8"/>
          <p:cNvSpPr/>
          <p:nvPr/>
        </p:nvSpPr>
        <p:spPr>
          <a:xfrm>
            <a:off x="3514576" y="1657052"/>
            <a:ext cx="2749108" cy="231618"/>
          </a:xfrm>
          <a:prstGeom prst="rect">
            <a:avLst/>
          </a:prstGeom>
          <a:noFill/>
          <a:ln/>
        </p:spPr>
        <p:txBody>
          <a:bodyPr wrap="square" lIns="0" tIns="0" rIns="0" bIns="0" rtlCol="0" anchor="t"/>
          <a:lstStyle/>
          <a:p>
            <a:pPr algn="l" indent="0" marL="0">
              <a:lnSpc>
                <a:spcPts val="1690"/>
              </a:lnSpc>
              <a:spcAft>
                <a:spcPts val="300"/>
              </a:spcAft>
              <a:buNone/>
            </a:pPr>
            <a:r>
              <a:rPr lang="en-US" sz="1300" b="1" dirty="0">
                <a:solidFill>
                  <a:srgbClr val="EDCD82"/>
                </a:solidFill>
                <a:latin typeface="Trebuchet MS" pitchFamily="34" charset="0"/>
                <a:ea typeface="Trebuchet MS" pitchFamily="34" charset="-122"/>
                <a:cs typeface="Trebuchet MS" pitchFamily="34" charset="-120"/>
              </a:rPr>
              <a:t>Phase 3</a:t>
            </a:r>
            <a:endParaRPr lang="en-US" sz="1300" dirty="0"/>
          </a:p>
        </p:txBody>
      </p:sp>
      <p:sp>
        <p:nvSpPr>
          <p:cNvPr id="14" name="Text 9"/>
          <p:cNvSpPr/>
          <p:nvPr/>
        </p:nvSpPr>
        <p:spPr>
          <a:xfrm>
            <a:off x="3514576" y="1909614"/>
            <a:ext cx="2495345" cy="285143"/>
          </a:xfrm>
          <a:prstGeom prst="rect">
            <a:avLst/>
          </a:prstGeom>
          <a:noFill/>
          <a:ln/>
        </p:spPr>
        <p:txBody>
          <a:bodyPr wrap="square" lIns="0" tIns="0" rIns="0" bIns="0" rtlCol="0" anchor="t"/>
          <a:lstStyle/>
          <a:p>
            <a:pPr algn="l" indent="0" marL="0">
              <a:lnSpc>
                <a:spcPts val="2080"/>
              </a:lnSpc>
              <a:spcAft>
                <a:spcPts val="600"/>
              </a:spcAft>
              <a:buNone/>
            </a:pPr>
            <a:r>
              <a:rPr lang="en-US" sz="1600" b="1" dirty="0">
                <a:solidFill>
                  <a:srgbClr val="FFFFFF"/>
                </a:solidFill>
                <a:latin typeface="Trebuchet MS" pitchFamily="34" charset="0"/>
                <a:ea typeface="Trebuchet MS" pitchFamily="34" charset="-122"/>
                <a:cs typeface="Trebuchet MS" pitchFamily="34" charset="-120"/>
              </a:rPr>
              <a:t>Geospatial Mapping</a:t>
            </a:r>
            <a:endParaRPr lang="en-US" sz="1600" dirty="0"/>
          </a:p>
        </p:txBody>
      </p:sp>
      <p:sp>
        <p:nvSpPr>
          <p:cNvPr id="15" name="Text 10"/>
          <p:cNvSpPr/>
          <p:nvPr/>
        </p:nvSpPr>
        <p:spPr>
          <a:xfrm>
            <a:off x="3514576" y="2249835"/>
            <a:ext cx="2220434" cy="437519"/>
          </a:xfrm>
          <a:prstGeom prst="rect">
            <a:avLst/>
          </a:prstGeom>
          <a:noFill/>
          <a:ln/>
        </p:spPr>
        <p:txBody>
          <a:bodyPr wrap="square" lIns="0" tIns="0" rIns="0" bIns="0" rtlCol="0" anchor="t"/>
          <a:lstStyle/>
          <a:p>
            <a:pPr algn="l" indent="0" marL="0">
              <a:lnSpc>
                <a:spcPts val="1595"/>
              </a:lnSpc>
              <a:buNone/>
            </a:pPr>
            <a:r>
              <a:rPr lang="en-US" sz="1100" dirty="0">
                <a:solidFill>
                  <a:srgbClr val="FFFFFF">
                    <a:alpha val="60000"/>
                  </a:srgbClr>
                </a:solidFill>
                <a:latin typeface="Trebuchet MS" pitchFamily="34" charset="0"/>
                <a:ea typeface="Trebuchet MS" pitchFamily="34" charset="-122"/>
                <a:cs typeface="Trebuchet MS" pitchFamily="34" charset="-120"/>
              </a:rPr>
              <a:t>Interactive crime heat-maps via Folium/Leaflet.</a:t>
            </a:r>
            <a:endParaRPr lang="en-US" sz="1100" dirty="0"/>
          </a:p>
        </p:txBody>
      </p:sp>
      <p:sp>
        <p:nvSpPr>
          <p:cNvPr id="16" name="Text 11"/>
          <p:cNvSpPr/>
          <p:nvPr/>
        </p:nvSpPr>
        <p:spPr>
          <a:xfrm>
            <a:off x="5994350" y="949226"/>
            <a:ext cx="2540050" cy="1918395"/>
          </a:xfrm>
          <a:prstGeom prst="roundRect">
            <a:avLst>
              <a:gd name="adj" fmla="val 6620"/>
            </a:avLst>
          </a:prstGeom>
          <a:solidFill>
            <a:srgbClr val="FFFFFF">
              <a:alpha val="6000"/>
            </a:srgbClr>
          </a:solidFill>
          <a:ln w="9525">
            <a:solidFill>
              <a:srgbClr val="FFFFFF"/>
            </a:solidFill>
          </a:ln>
        </p:spPr>
        <p:txBody>
          <a:bodyPr wrap="square" rtlCol="0" anchor="ctr"/>
          <a:lstStyle/>
          <a:p>
            <a:pPr indent="0" marL="0">
              <a:buNone/>
            </a:pPr>
            <a:endParaRPr lang="en-US" dirty="0"/>
          </a:p>
        </p:txBody>
      </p:sp>
      <p:pic>
        <p:nvPicPr>
          <p:cNvPr id="17" name="Image 3" descr="/home/z/my-project/download/crimeaware-ppt/assets/icon-ai.png">    </p:cNvPr>
          <p:cNvPicPr>
            <a:picLocks noChangeAspect="1"/>
          </p:cNvPicPr>
          <p:nvPr/>
        </p:nvPicPr>
        <p:blipFill>
          <a:blip r:embed="rId4"/>
          <a:stretch>
            <a:fillRect/>
          </a:stretch>
        </p:blipFill>
        <p:spPr>
          <a:xfrm>
            <a:off x="6207026" y="1161901"/>
            <a:ext cx="355550" cy="355550"/>
          </a:xfrm>
          <a:prstGeom prst="rect">
            <a:avLst/>
          </a:prstGeom>
        </p:spPr>
      </p:pic>
      <p:sp>
        <p:nvSpPr>
          <p:cNvPr id="18" name="Text 12"/>
          <p:cNvSpPr/>
          <p:nvPr/>
        </p:nvSpPr>
        <p:spPr>
          <a:xfrm>
            <a:off x="6207026" y="1657052"/>
            <a:ext cx="2749108" cy="231618"/>
          </a:xfrm>
          <a:prstGeom prst="rect">
            <a:avLst/>
          </a:prstGeom>
          <a:noFill/>
          <a:ln/>
        </p:spPr>
        <p:txBody>
          <a:bodyPr wrap="square" lIns="0" tIns="0" rIns="0" bIns="0" rtlCol="0" anchor="t"/>
          <a:lstStyle/>
          <a:p>
            <a:pPr algn="l" indent="0" marL="0">
              <a:lnSpc>
                <a:spcPts val="1690"/>
              </a:lnSpc>
              <a:spcAft>
                <a:spcPts val="300"/>
              </a:spcAft>
              <a:buNone/>
            </a:pPr>
            <a:r>
              <a:rPr lang="en-US" sz="1300" b="1" dirty="0">
                <a:solidFill>
                  <a:srgbClr val="EDCD82"/>
                </a:solidFill>
                <a:latin typeface="Trebuchet MS" pitchFamily="34" charset="0"/>
                <a:ea typeface="Trebuchet MS" pitchFamily="34" charset="-122"/>
                <a:cs typeface="Trebuchet MS" pitchFamily="34" charset="-120"/>
              </a:rPr>
              <a:t>Phase 4</a:t>
            </a:r>
            <a:endParaRPr lang="en-US" sz="1300" dirty="0"/>
          </a:p>
        </p:txBody>
      </p:sp>
      <p:sp>
        <p:nvSpPr>
          <p:cNvPr id="19" name="Text 13"/>
          <p:cNvSpPr/>
          <p:nvPr/>
        </p:nvSpPr>
        <p:spPr>
          <a:xfrm>
            <a:off x="6207026" y="1909614"/>
            <a:ext cx="2622227" cy="285143"/>
          </a:xfrm>
          <a:prstGeom prst="rect">
            <a:avLst/>
          </a:prstGeom>
          <a:noFill/>
          <a:ln/>
        </p:spPr>
        <p:txBody>
          <a:bodyPr wrap="square" lIns="0" tIns="0" rIns="0" bIns="0" rtlCol="0" anchor="t"/>
          <a:lstStyle/>
          <a:p>
            <a:pPr algn="l" indent="0" marL="0">
              <a:lnSpc>
                <a:spcPts val="2080"/>
              </a:lnSpc>
              <a:spcAft>
                <a:spcPts val="600"/>
              </a:spcAft>
              <a:buNone/>
            </a:pPr>
            <a:r>
              <a:rPr lang="en-US" sz="1600" b="1" dirty="0">
                <a:solidFill>
                  <a:srgbClr val="FFFFFF"/>
                </a:solidFill>
                <a:latin typeface="Trebuchet MS" pitchFamily="34" charset="0"/>
                <a:ea typeface="Trebuchet MS" pitchFamily="34" charset="-122"/>
                <a:cs typeface="Trebuchet MS" pitchFamily="34" charset="-120"/>
              </a:rPr>
              <a:t>ML Integration</a:t>
            </a:r>
            <a:endParaRPr lang="en-US" sz="1600" dirty="0"/>
          </a:p>
        </p:txBody>
      </p:sp>
      <p:sp>
        <p:nvSpPr>
          <p:cNvPr id="20" name="Text 14"/>
          <p:cNvSpPr/>
          <p:nvPr/>
        </p:nvSpPr>
        <p:spPr>
          <a:xfrm>
            <a:off x="6207026" y="2249835"/>
            <a:ext cx="2220434" cy="437519"/>
          </a:xfrm>
          <a:prstGeom prst="rect">
            <a:avLst/>
          </a:prstGeom>
          <a:noFill/>
          <a:ln/>
        </p:spPr>
        <p:txBody>
          <a:bodyPr wrap="square" lIns="0" tIns="0" rIns="0" bIns="0" rtlCol="0" anchor="t"/>
          <a:lstStyle/>
          <a:p>
            <a:pPr algn="l" indent="0" marL="0">
              <a:lnSpc>
                <a:spcPts val="1595"/>
              </a:lnSpc>
              <a:buNone/>
            </a:pPr>
            <a:r>
              <a:rPr lang="en-US" sz="1100" dirty="0">
                <a:solidFill>
                  <a:srgbClr val="FFFFFF">
                    <a:alpha val="60000"/>
                  </a:srgbClr>
                </a:solidFill>
                <a:latin typeface="Trebuchet MS" pitchFamily="34" charset="0"/>
                <a:ea typeface="Trebuchet MS" pitchFamily="34" charset="-122"/>
                <a:cs typeface="Trebuchet MS" pitchFamily="34" charset="-120"/>
              </a:rPr>
              <a:t>Predictive crime trend analysis with ML algorithms.</a:t>
            </a:r>
            <a:endParaRPr lang="en-US" sz="1100" dirty="0"/>
          </a:p>
        </p:txBody>
      </p:sp>
      <p:sp>
        <p:nvSpPr>
          <p:cNvPr id="21" name="Text 15"/>
          <p:cNvSpPr/>
          <p:nvPr/>
        </p:nvSpPr>
        <p:spPr>
          <a:xfrm>
            <a:off x="4267200" y="3351312"/>
            <a:ext cx="609600" cy="38100"/>
          </a:xfrm>
          <a:prstGeom prst="rect">
            <a:avLst/>
          </a:prstGeom>
          <a:solidFill>
            <a:srgbClr val="44D1E4"/>
          </a:solidFill>
          <a:ln/>
        </p:spPr>
        <p:txBody>
          <a:bodyPr wrap="square" rtlCol="0" anchor="ctr"/>
          <a:lstStyle/>
          <a:p>
            <a:pPr indent="0" marL="0">
              <a:buNone/>
            </a:pPr>
            <a:endParaRPr lang="en-US" dirty="0"/>
          </a:p>
        </p:txBody>
      </p:sp>
      <p:sp>
        <p:nvSpPr>
          <p:cNvPr id="22" name="Text 16"/>
          <p:cNvSpPr/>
          <p:nvPr/>
        </p:nvSpPr>
        <p:spPr>
          <a:xfrm>
            <a:off x="274320" y="3567113"/>
            <a:ext cx="8595211" cy="559516"/>
          </a:xfrm>
          <a:prstGeom prst="rect">
            <a:avLst/>
          </a:prstGeom>
          <a:noFill/>
          <a:ln/>
        </p:spPr>
        <p:txBody>
          <a:bodyPr wrap="square" lIns="0" tIns="0" rIns="0" bIns="0" rtlCol="0" anchor="t"/>
          <a:lstStyle/>
          <a:p>
            <a:pPr algn="ctr" indent="0" marL="0">
              <a:lnSpc>
                <a:spcPts val="4080"/>
              </a:lnSpc>
              <a:buNone/>
            </a:pPr>
            <a:r>
              <a:rPr lang="en-US" sz="3400" b="1" dirty="0">
                <a:solidFill>
                  <a:srgbClr val="FFFFFF"/>
                </a:solidFill>
                <a:latin typeface="Trebuchet MS" pitchFamily="34" charset="0"/>
                <a:ea typeface="Trebuchet MS" pitchFamily="34" charset="-122"/>
                <a:cs typeface="Trebuchet MS" pitchFamily="34" charset="-120"/>
              </a:rPr>
              <a:t>Thank You!</a:t>
            </a:r>
            <a:endParaRPr lang="en-US" sz="3400" dirty="0"/>
          </a:p>
        </p:txBody>
      </p:sp>
      <p:sp>
        <p:nvSpPr>
          <p:cNvPr id="23" name="Text 17"/>
          <p:cNvSpPr/>
          <p:nvPr/>
        </p:nvSpPr>
        <p:spPr>
          <a:xfrm>
            <a:off x="3895100" y="4186684"/>
            <a:ext cx="1353651" cy="277749"/>
          </a:xfrm>
          <a:prstGeom prst="rect">
            <a:avLst/>
          </a:prstGeom>
          <a:noFill/>
          <a:ln/>
        </p:spPr>
        <p:txBody>
          <a:bodyPr wrap="square" lIns="0" tIns="0" rIns="0" bIns="0" rtlCol="0" anchor="t"/>
          <a:lstStyle/>
          <a:p>
            <a:pPr algn="ctr" indent="0" marL="0">
              <a:spcBef>
                <a:spcPts val="800"/>
              </a:spcBef>
              <a:buNone/>
            </a:pPr>
            <a:r>
              <a:rPr lang="en-US" sz="1700" dirty="0">
                <a:solidFill>
                  <a:srgbClr val="44D1E4"/>
                </a:solidFill>
                <a:latin typeface="Trebuchet MS" pitchFamily="34" charset="0"/>
                <a:ea typeface="Trebuchet MS" pitchFamily="34" charset="-122"/>
                <a:cs typeface="Trebuchet MS" pitchFamily="34" charset="-120"/>
              </a:rPr>
              <a:t>Questions?</a:t>
            </a:r>
            <a:endParaRPr lang="en-US" sz="1700" dirty="0"/>
          </a:p>
        </p:txBody>
      </p:sp>
      <p:sp>
        <p:nvSpPr>
          <p:cNvPr id="24" name="Text 18"/>
          <p:cNvSpPr/>
          <p:nvPr/>
        </p:nvSpPr>
        <p:spPr>
          <a:xfrm>
            <a:off x="4267200" y="4621560"/>
            <a:ext cx="609600" cy="38100"/>
          </a:xfrm>
          <a:prstGeom prst="rect">
            <a:avLst/>
          </a:prstGeom>
          <a:solidFill>
            <a:srgbClr val="44D1E4"/>
          </a:solidFill>
          <a:ln/>
        </p:spPr>
        <p:txBody>
          <a:bodyPr wrap="square"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CrimeAware - Hackathon Presentation</dc:subject>
  <dc:creator>CrimeAware Team</dc:creator>
  <cp:lastModifiedBy>CrimeAware Team</cp:lastModifiedBy>
  <cp:revision>1</cp:revision>
  <dcterms:created xsi:type="dcterms:W3CDTF">2026-04-27T17:08:48Z</dcterms:created>
  <dcterms:modified xsi:type="dcterms:W3CDTF">2026-04-27T17:08:48Z</dcterms:modified>
</cp:coreProperties>
</file>